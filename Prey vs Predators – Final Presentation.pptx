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 Python and pygame game where predators hunt prey on a grid, and every animal is driven by an AI controller.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sides, two win conditions. Both thresholds are percentages of the starting prey and the starting food.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12 by 10 riverlands map, rendered from the game's own tiles and sprites with seed 7. The tiger starts top left, the wolves bottom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Folders: src/core, src/ai, src/rendering. Because the AI only gets a read-only snapshot, it cannot cheat, and matches can run without a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turns.py runs this as a Python generator, so the screen can show one action at a time. A human player pauses the loop on their own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fcost: each candidate tile is ranked by distance from the predator and by distance to food. The two ranks are added and the highest total wins. Despair swaps the food rank for a regroup rank. The default Tactical AI uses a weighted tile score that also predicts where predators can reach next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real scores the game's score_moves_fcost_panic function produced for deer_0. The two rock tiles are impassable, so they are not candidates. The deer's own tile scores 8 and the tile next to the tiger side scores lowest.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Wolf damage is 16–28. Tiger intent is rolled once per match (chase, ambush or camp) with a bias toward camping. A surviving prey gets adrenaline: extra movement and protection until its next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intents belong to the simple Greedy brain. The intent is rolled once per match: tigers lean toward camping, wolves toward ambush. After its first kill a tiger switches to constant chase. Movement uses A star. The default Tactical brain ignores intents: it attacks the reachable prey with the lowest HP, and otherwise follows a shortest-route map that also avoids tiles with high enemy influence.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follows coordinated_wolf in the tactics module. It measures every wolf's route length to the free tiles around each prey, picks the prey with the lowest total, then assigns each wolf a different tile, preferring tiles that are far apart. The drawing is a schematic, not a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sides use the same Observation and Action contract, so any controller can drive either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Accuracy comes from 24 held-out decisions, so treat it as a small sample. The neural policy was trained for 80 episodes, but in the saved evaluation predators won 4 of 4 matches both before and after training, so it did not measurably beat the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12261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58800"/>
          </a:xfrm>
          <a:prstGeom prst="rect">
            <a:avLst/>
          </a:prstGeom>
          <a:noFill/>
          <a:ln/>
        </p:spPr>
        <p:txBody>
          <a:bodyPr wrap="square" lIns="0" tIns="0" rIns="0" bIns="0" rtlCol="0" anchor="t"/>
          <a:lstStyle>
            <a:lvl1pPr algn="l" indent="0" marL="0">
              <a:lnSpc>
                <a:spcPct val="115000"/>
              </a:lnSpc>
              <a:buNone/>
              <a:defRPr lang="en-US" sz="4000" dirty="0">
                <a:solidFill>
                  <a:srgbClr val="F3EFE4"/>
                </a:solidFill>
                <a:latin typeface="Arial" pitchFamily="34" charset="0"/>
                <a:ea typeface="Arial" pitchFamily="34" charset="-122"/>
                <a:cs typeface="Arial" pitchFamily="34" charset="-120"/>
              </a:defRPr>
            </a:lvl1pPr>
          </a:lstStyle>
          <a:p>
            <a:pPr algn="l" indent="0" marL="0">
              <a:lnSpc>
                <a:spcPct val="115000"/>
              </a:lnSpc>
              <a:buNone/>
            </a:pPr>
            <a:endParaRPr lang="en-US" sz="4000" dirty="0"/>
          </a:p>
        </p:txBody>
      </p:sp>
      <p:sp>
        <p:nvSpPr>
          <p:cNvPr id="3" name="Text Placeholder 2"/>
          <p:cNvSpPr/>
          <p:nvPr>
            <p:ph idx="101" type="body"/>
          </p:nvPr>
        </p:nvSpPr>
        <p:spPr>
          <a:xfrm>
            <a:off x="812800" y="1676400"/>
            <a:ext cx="10566400" cy="4368800"/>
          </a:xfrm>
          <a:prstGeom prst="rect">
            <a:avLst/>
          </a:prstGeom>
          <a:noFill/>
          <a:ln/>
        </p:spPr>
        <p:txBody>
          <a:bodyPr wrap="square" lIns="0" tIns="0" rIns="0" bIns="0" rtlCol="0" anchor="t"/>
          <a:lstStyle>
            <a:lvl1pPr algn="l" indent="0" marL="0">
              <a:lnSpc>
                <a:spcPct val="140000"/>
              </a:lnSpc>
              <a:buNone/>
              <a:defRPr lang="en-US" sz="1600" dirty="0">
                <a:solidFill>
                  <a:srgbClr val="F3EFE4"/>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2261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58800"/>
          </a:xfrm>
          <a:prstGeom prst="rect">
            <a:avLst/>
          </a:prstGeom>
          <a:noFill/>
          <a:ln/>
        </p:spPr>
        <p:txBody>
          <a:bodyPr wrap="square" lIns="0" tIns="0" rIns="0" bIns="0" rtlCol="0" anchor="t"/>
          <a:lstStyle>
            <a:lvl1pPr algn="l" indent="0" marL="0">
              <a:lnSpc>
                <a:spcPct val="115000"/>
              </a:lnSpc>
              <a:buNone/>
              <a:defRPr lang="en-US" sz="4000" dirty="0">
                <a:solidFill>
                  <a:srgbClr val="F3EFE4"/>
                </a:solidFill>
                <a:latin typeface="Arial" pitchFamily="34" charset="0"/>
                <a:ea typeface="Arial" pitchFamily="34" charset="-122"/>
                <a:cs typeface="Arial" pitchFamily="34" charset="-120"/>
              </a:defRPr>
            </a:lvl1pPr>
          </a:lstStyle>
          <a:p>
            <a:pPr algn="l" indent="0" marL="0">
              <a:lnSpc>
                <a:spcPct val="115000"/>
              </a:lnSpc>
              <a:buNone/>
            </a:pPr>
            <a:endParaRPr lang="en-US" sz="4000" dirty="0"/>
          </a:p>
        </p:txBody>
      </p:sp>
      <p:sp>
        <p:nvSpPr>
          <p:cNvPr id="3" name="Text Placeholder 2"/>
          <p:cNvSpPr/>
          <p:nvPr>
            <p:ph idx="101" type="body"/>
          </p:nvPr>
        </p:nvSpPr>
        <p:spPr>
          <a:xfrm>
            <a:off x="812800" y="1676400"/>
            <a:ext cx="10566400" cy="4368800"/>
          </a:xfrm>
          <a:prstGeom prst="rect">
            <a:avLst/>
          </a:prstGeom>
          <a:noFill/>
          <a:ln/>
        </p:spPr>
        <p:txBody>
          <a:bodyPr wrap="square" lIns="0" tIns="0" rIns="0" bIns="0" rtlCol="0" anchor="t"/>
          <a:lstStyle>
            <a:lvl1pPr algn="l" indent="0" marL="0">
              <a:lnSpc>
                <a:spcPct val="140000"/>
              </a:lnSpc>
              <a:buNone/>
              <a:defRPr lang="en-US" sz="1600" dirty="0">
                <a:solidFill>
                  <a:srgbClr val="F3EFE4"/>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61F"/>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812800" y="2202210"/>
            <a:ext cx="355600" cy="355600"/>
          </a:xfrm>
          <a:prstGeom prst="rect">
            <a:avLst/>
          </a:prstGeom>
        </p:spPr>
      </p:pic>
      <p:sp>
        <p:nvSpPr>
          <p:cNvPr id="3" name="Text 0"/>
          <p:cNvSpPr/>
          <p:nvPr/>
        </p:nvSpPr>
        <p:spPr>
          <a:xfrm>
            <a:off x="1371600" y="2202210"/>
            <a:ext cx="660975"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5FC4B0"/>
                </a:solidFill>
                <a:latin typeface="Arial" pitchFamily="34" charset="0"/>
                <a:ea typeface="Arial" pitchFamily="34" charset="-122"/>
                <a:cs typeface="Arial" pitchFamily="34" charset="-120"/>
              </a:rPr>
              <a:t>Prey</a:t>
            </a:r>
            <a:endParaRPr lang="en-US" sz="2000" dirty="0"/>
          </a:p>
        </p:txBody>
      </p:sp>
      <p:pic>
        <p:nvPicPr>
          <p:cNvPr id="4" name="Image 1" descr="ellipse">    </p:cNvPr>
          <p:cNvPicPr>
            <a:picLocks noChangeAspect="1"/>
          </p:cNvPicPr>
          <p:nvPr/>
        </p:nvPicPr>
        <p:blipFill>
          <a:blip r:embed="rId2"/>
          <a:srcRect l="0" r="0" t="0" b="0"/>
          <a:stretch/>
        </p:blipFill>
        <p:spPr>
          <a:xfrm>
            <a:off x="2125613" y="2202210"/>
            <a:ext cx="355600" cy="355600"/>
          </a:xfrm>
          <a:prstGeom prst="rect">
            <a:avLst/>
          </a:prstGeom>
        </p:spPr>
      </p:pic>
      <p:sp>
        <p:nvSpPr>
          <p:cNvPr id="5" name="Text 1"/>
          <p:cNvSpPr/>
          <p:nvPr/>
        </p:nvSpPr>
        <p:spPr>
          <a:xfrm>
            <a:off x="2684413" y="2202210"/>
            <a:ext cx="1422975"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0883E"/>
                </a:solidFill>
                <a:latin typeface="Arial" pitchFamily="34" charset="0"/>
                <a:ea typeface="Arial" pitchFamily="34" charset="-122"/>
                <a:cs typeface="Arial" pitchFamily="34" charset="-120"/>
              </a:rPr>
              <a:t>Predators</a:t>
            </a:r>
            <a:endParaRPr lang="en-US" sz="2000" dirty="0"/>
          </a:p>
        </p:txBody>
      </p:sp>
      <p:sp>
        <p:nvSpPr>
          <p:cNvPr id="6" name="Text 2"/>
          <p:cNvSpPr/>
          <p:nvPr>
            <p:ph type="title"/>
          </p:nvPr>
        </p:nvSpPr>
        <p:spPr>
          <a:xfrm>
            <a:off x="812800" y="2811810"/>
            <a:ext cx="10883392" cy="985490"/>
          </a:xfrm>
          <a:prstGeom prst="rect">
            <a:avLst/>
          </a:prstGeom>
          <a:noFill/>
          <a:ln/>
        </p:spPr>
        <p:txBody>
          <a:bodyPr wrap="square" lIns="0" tIns="0" rIns="0" bIns="0" rtlCol="0" anchor="t">
            <a:normAutofit/>
          </a:bodyPr>
          <a:lstStyle/>
          <a:p>
            <a:pPr algn="l" indent="0" marL="0">
              <a:lnSpc>
                <a:spcPts val="7560"/>
              </a:lnSpc>
              <a:buNone/>
            </a:pPr>
            <a:r>
              <a:rPr lang="en-US" sz="7200" b="1" i="0" dirty="0">
                <a:solidFill>
                  <a:srgbClr val="F3EFE4"/>
                </a:solidFill>
                <a:latin typeface="Arial" pitchFamily="34" charset="0"/>
                <a:ea typeface="Arial" pitchFamily="34" charset="-122"/>
                <a:cs typeface="Arial" pitchFamily="34" charset="-120"/>
              </a:rPr>
              <a:t>Prey vs Predators</a:t>
            </a:r>
            <a:endParaRPr lang="en-US" sz="7200" dirty="0"/>
          </a:p>
        </p:txBody>
      </p:sp>
      <p:sp>
        <p:nvSpPr>
          <p:cNvPr id="7" name="Text 3"/>
          <p:cNvSpPr/>
          <p:nvPr/>
        </p:nvSpPr>
        <p:spPr>
          <a:xfrm>
            <a:off x="812800" y="4025900"/>
            <a:ext cx="10883392" cy="452090"/>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C9D3CC"/>
                </a:solidFill>
                <a:latin typeface="Arial" pitchFamily="34" charset="0"/>
                <a:ea typeface="Arial" pitchFamily="34" charset="-122"/>
                <a:cs typeface="Arial" pitchFamily="34" charset="-120"/>
              </a:rPr>
              <a:t>A turn-based tactical AI simulation</a:t>
            </a:r>
            <a:endParaRPr lang="en-US" sz="2400" dirty="0"/>
          </a:p>
        </p:txBody>
      </p:sp>
      <p:sp>
        <p:nvSpPr>
          <p:cNvPr id="8" name="Text 4"/>
          <p:cNvSpPr/>
          <p:nvPr/>
        </p:nvSpPr>
        <p:spPr>
          <a:xfrm>
            <a:off x="812800" y="620271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FB0A6"/>
                </a:solidFill>
                <a:latin typeface="Arial" pitchFamily="34" charset="0"/>
                <a:ea typeface="Arial" pitchFamily="34" charset="-122"/>
                <a:cs typeface="Arial" pitchFamily="34" charset="-120"/>
              </a:rPr>
              <a:t>CSE 3812 · Overlord7540, Sahriar-Sami, mahnajbintarahman · 3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EFE4"/>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842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1B2A24"/>
                </a:solidFill>
                <a:latin typeface="Arial" pitchFamily="34" charset="0"/>
                <a:ea typeface="Arial" pitchFamily="34" charset="-122"/>
                <a:cs typeface="Arial" pitchFamily="34" charset="-120"/>
              </a:rPr>
              <a:t>The Game</a:t>
            </a:r>
            <a:endParaRPr lang="en-US" sz="4000" dirty="0"/>
          </a:p>
        </p:txBody>
      </p:sp>
      <p:sp>
        <p:nvSpPr>
          <p:cNvPr id="3" name="Shape 1"/>
          <p:cNvSpPr/>
          <p:nvPr/>
        </p:nvSpPr>
        <p:spPr>
          <a:xfrm>
            <a:off x="812800" y="1727200"/>
            <a:ext cx="5130800" cy="2616150"/>
          </a:xfrm>
          <a:prstGeom prst="roundRect">
            <a:avLst>
              <a:gd name="adj" fmla="val 5825"/>
            </a:avLst>
          </a:prstGeom>
          <a:solidFill>
            <a:srgbClr val="F0883E"/>
          </a:solidFill>
          <a:ln/>
        </p:spPr>
        <p:txBody>
          <a:bodyPr/>
          <a:p/>
        </p:txBody>
      </p:sp>
      <p:sp>
        <p:nvSpPr>
          <p:cNvPr id="4" name="Text 2"/>
          <p:cNvSpPr/>
          <p:nvPr/>
        </p:nvSpPr>
        <p:spPr>
          <a:xfrm>
            <a:off x="1168400" y="2082800"/>
            <a:ext cx="4552188"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1B2A24"/>
                </a:solidFill>
                <a:latin typeface="Arial" pitchFamily="34" charset="0"/>
                <a:ea typeface="Arial" pitchFamily="34" charset="-122"/>
                <a:cs typeface="Arial" pitchFamily="34" charset="-120"/>
              </a:rPr>
              <a:t>70%</a:t>
            </a:r>
            <a:endParaRPr lang="en-US" sz="8000" dirty="0"/>
          </a:p>
        </p:txBody>
      </p:sp>
      <p:sp>
        <p:nvSpPr>
          <p:cNvPr id="5" name="Text 3"/>
          <p:cNvSpPr/>
          <p:nvPr/>
        </p:nvSpPr>
        <p:spPr>
          <a:xfrm>
            <a:off x="1168400" y="3200400"/>
            <a:ext cx="4552188" cy="391120"/>
          </a:xfrm>
          <a:prstGeom prst="rect">
            <a:avLst/>
          </a:prstGeom>
          <a:noFill/>
          <a:ln/>
        </p:spPr>
        <p:txBody>
          <a:bodyPr wrap="square" lIns="0" tIns="0" rIns="0" bIns="0" rtlCol="0" anchor="t">
            <a:normAutofit/>
          </a:bodyPr>
          <a:lstStyle/>
          <a:p>
            <a:pPr algn="l" indent="0" marL="0">
              <a:lnSpc>
                <a:spcPts val="2880"/>
              </a:lnSpc>
              <a:buNone/>
            </a:pPr>
            <a:r>
              <a:rPr lang="en-US" sz="2400" b="1" dirty="0">
                <a:solidFill>
                  <a:srgbClr val="1B2A24"/>
                </a:solidFill>
                <a:latin typeface="Arial" pitchFamily="34" charset="0"/>
                <a:ea typeface="Arial" pitchFamily="34" charset="-122"/>
                <a:cs typeface="Arial" pitchFamily="34" charset="-120"/>
              </a:rPr>
              <a:t>Predators win</a:t>
            </a:r>
            <a:endParaRPr lang="en-US" sz="2400" dirty="0"/>
          </a:p>
        </p:txBody>
      </p:sp>
      <p:sp>
        <p:nvSpPr>
          <p:cNvPr id="6" name="Text 4"/>
          <p:cNvSpPr/>
          <p:nvPr/>
        </p:nvSpPr>
        <p:spPr>
          <a:xfrm>
            <a:off x="1168400" y="3667720"/>
            <a:ext cx="4552188"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B2A24"/>
                </a:solidFill>
                <a:latin typeface="Arial" pitchFamily="34" charset="0"/>
                <a:ea typeface="Arial" pitchFamily="34" charset="-122"/>
                <a:cs typeface="Arial" pitchFamily="34" charset="-120"/>
              </a:rPr>
              <a:t>by eliminating prey</a:t>
            </a:r>
            <a:endParaRPr lang="en-US" sz="1800" dirty="0"/>
          </a:p>
        </p:txBody>
      </p:sp>
      <p:sp>
        <p:nvSpPr>
          <p:cNvPr id="7" name="Shape 5"/>
          <p:cNvSpPr/>
          <p:nvPr/>
        </p:nvSpPr>
        <p:spPr>
          <a:xfrm>
            <a:off x="6248400" y="1727200"/>
            <a:ext cx="5130800" cy="2616150"/>
          </a:xfrm>
          <a:prstGeom prst="roundRect">
            <a:avLst>
              <a:gd name="adj" fmla="val 5825"/>
            </a:avLst>
          </a:prstGeom>
          <a:solidFill>
            <a:srgbClr val="5FC4B0"/>
          </a:solidFill>
          <a:ln/>
        </p:spPr>
        <p:txBody>
          <a:bodyPr/>
          <a:p/>
        </p:txBody>
      </p:sp>
      <p:sp>
        <p:nvSpPr>
          <p:cNvPr id="8" name="Text 6"/>
          <p:cNvSpPr/>
          <p:nvPr/>
        </p:nvSpPr>
        <p:spPr>
          <a:xfrm>
            <a:off x="6604000" y="2082800"/>
            <a:ext cx="4552188"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1B2A24"/>
                </a:solidFill>
                <a:latin typeface="Arial" pitchFamily="34" charset="0"/>
                <a:ea typeface="Arial" pitchFamily="34" charset="-122"/>
                <a:cs typeface="Arial" pitchFamily="34" charset="-120"/>
              </a:rPr>
              <a:t>65%</a:t>
            </a:r>
            <a:endParaRPr lang="en-US" sz="8000" dirty="0"/>
          </a:p>
        </p:txBody>
      </p:sp>
      <p:sp>
        <p:nvSpPr>
          <p:cNvPr id="9" name="Text 7"/>
          <p:cNvSpPr/>
          <p:nvPr/>
        </p:nvSpPr>
        <p:spPr>
          <a:xfrm>
            <a:off x="6604000" y="3200400"/>
            <a:ext cx="4552188" cy="391120"/>
          </a:xfrm>
          <a:prstGeom prst="rect">
            <a:avLst/>
          </a:prstGeom>
          <a:noFill/>
          <a:ln/>
        </p:spPr>
        <p:txBody>
          <a:bodyPr wrap="square" lIns="0" tIns="0" rIns="0" bIns="0" rtlCol="0" anchor="t">
            <a:normAutofit/>
          </a:bodyPr>
          <a:lstStyle/>
          <a:p>
            <a:pPr algn="l" indent="0" marL="0">
              <a:lnSpc>
                <a:spcPts val="2880"/>
              </a:lnSpc>
              <a:buNone/>
            </a:pPr>
            <a:r>
              <a:rPr lang="en-US" sz="2400" b="1" dirty="0">
                <a:solidFill>
                  <a:srgbClr val="1B2A24"/>
                </a:solidFill>
                <a:latin typeface="Arial" pitchFamily="34" charset="0"/>
                <a:ea typeface="Arial" pitchFamily="34" charset="-122"/>
                <a:cs typeface="Arial" pitchFamily="34" charset="-120"/>
              </a:rPr>
              <a:t>Prey win</a:t>
            </a:r>
            <a:endParaRPr lang="en-US" sz="2400" dirty="0"/>
          </a:p>
        </p:txBody>
      </p:sp>
      <p:sp>
        <p:nvSpPr>
          <p:cNvPr id="10" name="Text 8"/>
          <p:cNvSpPr/>
          <p:nvPr/>
        </p:nvSpPr>
        <p:spPr>
          <a:xfrm>
            <a:off x="6604000" y="3667720"/>
            <a:ext cx="4552188"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B2A24"/>
                </a:solidFill>
                <a:latin typeface="Arial" pitchFamily="34" charset="0"/>
                <a:ea typeface="Arial" pitchFamily="34" charset="-122"/>
                <a:cs typeface="Arial" pitchFamily="34" charset="-120"/>
              </a:rPr>
              <a:t>by eating the food</a:t>
            </a:r>
            <a:endParaRPr lang="en-US" sz="1800" dirty="0"/>
          </a:p>
        </p:txBody>
      </p:sp>
      <p:sp>
        <p:nvSpPr>
          <p:cNvPr id="11" name="Text 9"/>
          <p:cNvSpPr/>
          <p:nvPr/>
        </p:nvSpPr>
        <p:spPr>
          <a:xfrm>
            <a:off x="812800" y="4698950"/>
            <a:ext cx="10883392"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4B5A53"/>
                </a:solidFill>
                <a:latin typeface="Arial" pitchFamily="34" charset="0"/>
                <a:ea typeface="Arial" pitchFamily="34" charset="-122"/>
                <a:cs typeface="Arial" pitchFamily="34" charset="-120"/>
              </a:rPr>
              <a:t>Turn-based grid · river, rocks, food · 12×10 or 20×20</a:t>
            </a:r>
            <a:endParaRPr lang="en-US" sz="2000" dirty="0"/>
          </a:p>
        </p:txBody>
      </p:sp>
      <p:sp>
        <p:nvSpPr>
          <p:cNvPr id="12" name="Text 1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971"/>
                </a:solidFill>
                <a:latin typeface="Arial" pitchFamily="34" charset="0"/>
                <a:ea typeface="Arial" pitchFamily="34" charset="-122"/>
                <a:cs typeface="Arial" pitchFamily="34" charset="-120"/>
              </a:rPr>
              <a:t>2 / 12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261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842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F3EFE4"/>
                </a:solidFill>
                <a:latin typeface="Arial" pitchFamily="34" charset="0"/>
                <a:ea typeface="Arial" pitchFamily="34" charset="-122"/>
                <a:cs typeface="Arial" pitchFamily="34" charset="-120"/>
              </a:rPr>
              <a:t>The Game Board</a:t>
            </a:r>
            <a:endParaRPr lang="en-US" sz="4000" dirty="0"/>
          </a:p>
        </p:txBody>
      </p:sp>
      <p:pic>
        <p:nvPicPr>
          <p:cNvPr id="3" name="Image 0" descr="The riverlands game board with a tiger, two wolves and six deer">    </p:cNvPr>
          <p:cNvPicPr>
            <a:picLocks noChangeAspect="1"/>
          </p:cNvPicPr>
          <p:nvPr/>
        </p:nvPicPr>
        <p:blipFill>
          <a:blip r:embed="rId1"/>
          <a:srcRect l="0" r="0" t="0" b="0"/>
          <a:stretch/>
        </p:blipFill>
        <p:spPr>
          <a:xfrm>
            <a:off x="812800" y="1676400"/>
            <a:ext cx="4876800" cy="4064000"/>
          </a:xfrm>
          <a:prstGeom prst="roundRect">
            <a:avLst>
              <a:gd name="adj" fmla="val 3750"/>
            </a:avLst>
          </a:prstGeom>
        </p:spPr>
      </p:pic>
      <p:pic>
        <p:nvPicPr>
          <p:cNvPr id="4" name="Image 1" descr="ellipse">    </p:cNvPr>
          <p:cNvPicPr>
            <a:picLocks noChangeAspect="1"/>
          </p:cNvPicPr>
          <p:nvPr/>
        </p:nvPicPr>
        <p:blipFill>
          <a:blip r:embed="rId2"/>
          <a:srcRect l="0" r="0" t="0" b="0"/>
          <a:stretch/>
        </p:blipFill>
        <p:spPr>
          <a:xfrm>
            <a:off x="6096000" y="2654300"/>
            <a:ext cx="279400" cy="279400"/>
          </a:xfrm>
          <a:prstGeom prst="rect">
            <a:avLst/>
          </a:prstGeom>
        </p:spPr>
      </p:pic>
      <p:sp>
        <p:nvSpPr>
          <p:cNvPr id="5" name="Text 1"/>
          <p:cNvSpPr/>
          <p:nvPr/>
        </p:nvSpPr>
        <p:spPr>
          <a:xfrm>
            <a:off x="6553200" y="2616200"/>
            <a:ext cx="3693319"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3EFE4"/>
                </a:solidFill>
                <a:latin typeface="Arial" pitchFamily="34" charset="0"/>
                <a:ea typeface="Arial" pitchFamily="34" charset="-122"/>
                <a:cs typeface="Arial" pitchFamily="34" charset="-120"/>
              </a:rPr>
              <a:t>Predators: tiger and wolves</a:t>
            </a:r>
            <a:endParaRPr lang="en-US" sz="2000" dirty="0"/>
          </a:p>
        </p:txBody>
      </p:sp>
      <p:pic>
        <p:nvPicPr>
          <p:cNvPr id="6" name="Image 2" descr="ellipse">    </p:cNvPr>
          <p:cNvPicPr>
            <a:picLocks noChangeAspect="1"/>
          </p:cNvPicPr>
          <p:nvPr/>
        </p:nvPicPr>
        <p:blipFill>
          <a:blip r:embed="rId3"/>
          <a:srcRect l="0" r="0" t="0" b="0"/>
          <a:stretch/>
        </p:blipFill>
        <p:spPr>
          <a:xfrm>
            <a:off x="6096000" y="3263900"/>
            <a:ext cx="279400" cy="279400"/>
          </a:xfrm>
          <a:prstGeom prst="rect">
            <a:avLst/>
          </a:prstGeom>
        </p:spPr>
      </p:pic>
      <p:sp>
        <p:nvSpPr>
          <p:cNvPr id="7" name="Text 2"/>
          <p:cNvSpPr/>
          <p:nvPr/>
        </p:nvSpPr>
        <p:spPr>
          <a:xfrm>
            <a:off x="6553200" y="3225800"/>
            <a:ext cx="2253258"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3EFE4"/>
                </a:solidFill>
                <a:latin typeface="Arial" pitchFamily="34" charset="0"/>
                <a:ea typeface="Arial" pitchFamily="34" charset="-122"/>
                <a:cs typeface="Arial" pitchFamily="34" charset="-120"/>
              </a:rPr>
              <a:t>Prey: deer herds</a:t>
            </a:r>
            <a:endParaRPr lang="en-US" sz="2000" dirty="0"/>
          </a:p>
        </p:txBody>
      </p:sp>
      <p:sp>
        <p:nvSpPr>
          <p:cNvPr id="8" name="Text 3"/>
          <p:cNvSpPr/>
          <p:nvPr/>
        </p:nvSpPr>
        <p:spPr>
          <a:xfrm>
            <a:off x="6096000" y="3835400"/>
            <a:ext cx="5441696"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9FD6E0"/>
                </a:solidFill>
                <a:latin typeface="Arial" pitchFamily="34" charset="0"/>
                <a:ea typeface="Arial" pitchFamily="34" charset="-122"/>
                <a:cs typeface="Arial" pitchFamily="34" charset="-120"/>
              </a:rPr>
              <a:t>River, crossed at two fords</a:t>
            </a:r>
            <a:endParaRPr lang="en-US" sz="2000" dirty="0"/>
          </a:p>
        </p:txBody>
      </p:sp>
      <p:sp>
        <p:nvSpPr>
          <p:cNvPr id="9" name="Text 4"/>
          <p:cNvSpPr/>
          <p:nvPr/>
        </p:nvSpPr>
        <p:spPr>
          <a:xfrm>
            <a:off x="6096000" y="4445000"/>
            <a:ext cx="5441696"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E9C46A"/>
                </a:solidFill>
                <a:latin typeface="Arial" pitchFamily="34" charset="0"/>
                <a:ea typeface="Arial" pitchFamily="34" charset="-122"/>
                <a:cs typeface="Arial" pitchFamily="34" charset="-120"/>
              </a:rPr>
              <a:t>Crops and fruit are the food</a:t>
            </a:r>
            <a:endParaRPr lang="en-US" sz="2000" dirty="0"/>
          </a:p>
        </p:txBody>
      </p:sp>
      <p:sp>
        <p:nvSpPr>
          <p:cNvPr id="10" name="Text 5"/>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A6"/>
                </a:solidFill>
                <a:latin typeface="Arial" pitchFamily="34" charset="0"/>
                <a:ea typeface="Arial" pitchFamily="34" charset="-122"/>
                <a:cs typeface="Arial" pitchFamily="34" charset="-120"/>
              </a:rPr>
              <a:t>Terrain art: Sprout Lands by Cup Nooble</a:t>
            </a:r>
            <a:endParaRPr lang="en-US" sz="1200" dirty="0"/>
          </a:p>
        </p:txBody>
      </p:sp>
      <p:sp>
        <p:nvSpPr>
          <p:cNvPr id="11" name="Text 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FB0A6"/>
                </a:solidFill>
                <a:latin typeface="Arial" pitchFamily="34" charset="0"/>
                <a:ea typeface="Arial" pitchFamily="34" charset="-122"/>
                <a:cs typeface="Arial" pitchFamily="34" charset="-120"/>
              </a:rPr>
              <a:t>3 / 12</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261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842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F3EFE4"/>
                </a:solidFill>
                <a:latin typeface="Arial" pitchFamily="34" charset="0"/>
                <a:ea typeface="Arial" pitchFamily="34" charset="-122"/>
                <a:cs typeface="Arial" pitchFamily="34" charset="-120"/>
              </a:rPr>
              <a:t>Architecture</a:t>
            </a:r>
            <a:endParaRPr lang="en-US" sz="4000" dirty="0"/>
          </a:p>
        </p:txBody>
      </p:sp>
      <p:sp>
        <p:nvSpPr>
          <p:cNvPr id="3" name="Shape 1"/>
          <p:cNvSpPr/>
          <p:nvPr/>
        </p:nvSpPr>
        <p:spPr>
          <a:xfrm>
            <a:off x="812800" y="1727200"/>
            <a:ext cx="3352800" cy="1823690"/>
          </a:xfrm>
          <a:prstGeom prst="roundRect">
            <a:avLst>
              <a:gd name="adj" fmla="val 8357"/>
            </a:avLst>
          </a:prstGeom>
          <a:solidFill>
            <a:srgbClr val="1C3A30"/>
          </a:solidFill>
          <a:ln/>
        </p:spPr>
        <p:txBody>
          <a:bodyPr/>
          <a:p/>
        </p:txBody>
      </p:sp>
      <p:sp>
        <p:nvSpPr>
          <p:cNvPr id="4" name="Shape 2"/>
          <p:cNvSpPr/>
          <p:nvPr/>
        </p:nvSpPr>
        <p:spPr>
          <a:xfrm>
            <a:off x="812800" y="1727200"/>
            <a:ext cx="3352800" cy="1823690"/>
          </a:xfrm>
          <a:custGeom>
            <a:avLst/>
            <a:gdLst/>
            <a:ahLst/>
            <a:cxnLst/>
            <a:rect l="l" t="t" r="r" b="b"/>
            <a:pathLst>
              <a:path w="3352800" h="1823690">
                <a:moveTo>
                  <a:pt x="0" y="152400"/>
                </a:moveTo>
                <a:lnTo>
                  <a:pt x="0" y="152400"/>
                </a:lnTo>
                <a:arcTo hR="152400" wR="152400" stAng="10800000" swAng="5400000"/>
                <a:lnTo>
                  <a:pt x="3200400" y="0"/>
                </a:lnTo>
                <a:arcTo hR="152400" wR="152400" stAng="16200000" swAng="5400000"/>
                <a:lnTo>
                  <a:pt x="3352800" y="152400"/>
                </a:lnTo>
                <a:arcTo hR="76200" wR="152400" stAng="0" swAng="-5400000"/>
                <a:lnTo>
                  <a:pt x="152400" y="76200"/>
                </a:lnTo>
                <a:arcTo hR="76200" wR="152400" stAng="16200000" swAng="-5400000"/>
                <a:close/>
              </a:path>
            </a:pathLst>
          </a:custGeom>
          <a:solidFill>
            <a:srgbClr val="F3EFE4"/>
          </a:solidFill>
          <a:ln/>
        </p:spPr>
        <p:txBody>
          <a:bodyPr/>
          <a:p/>
        </p:txBody>
      </p:sp>
      <p:sp>
        <p:nvSpPr>
          <p:cNvPr id="5" name="Text 3"/>
          <p:cNvSpPr/>
          <p:nvPr/>
        </p:nvSpPr>
        <p:spPr>
          <a:xfrm>
            <a:off x="1117600" y="2108200"/>
            <a:ext cx="2825496" cy="421630"/>
          </a:xfrm>
          <a:prstGeom prst="rect">
            <a:avLst/>
          </a:prstGeom>
          <a:noFill/>
          <a:ln/>
        </p:spPr>
        <p:txBody>
          <a:bodyPr wrap="square" lIns="0" tIns="0" rIns="0" bIns="0" rtlCol="0" anchor="t">
            <a:normAutofit/>
          </a:bodyPr>
          <a:lstStyle/>
          <a:p>
            <a:pPr algn="l" indent="0" marL="0">
              <a:lnSpc>
                <a:spcPts val="3120"/>
              </a:lnSpc>
              <a:buNone/>
            </a:pPr>
            <a:r>
              <a:rPr lang="en-US" sz="2600" b="1" dirty="0">
                <a:solidFill>
                  <a:srgbClr val="F3EFE4"/>
                </a:solidFill>
                <a:latin typeface="Arial" pitchFamily="34" charset="0"/>
                <a:ea typeface="Arial" pitchFamily="34" charset="-122"/>
                <a:cs typeface="Arial" pitchFamily="34" charset="-120"/>
              </a:rPr>
              <a:t>Simulation</a:t>
            </a:r>
            <a:endParaRPr lang="en-US" sz="2600" dirty="0"/>
          </a:p>
        </p:txBody>
      </p:sp>
      <p:sp>
        <p:nvSpPr>
          <p:cNvPr id="6" name="Text 4"/>
          <p:cNvSpPr/>
          <p:nvPr/>
        </p:nvSpPr>
        <p:spPr>
          <a:xfrm>
            <a:off x="1117600" y="2606030"/>
            <a:ext cx="2825496" cy="66546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D3CC"/>
                </a:solidFill>
                <a:latin typeface="Arial" pitchFamily="34" charset="0"/>
                <a:ea typeface="Arial" pitchFamily="34" charset="-122"/>
                <a:cs typeface="Arial" pitchFamily="34" charset="-120"/>
              </a:rPr>
              <a:t>Rules, grid, turns, combat. No graphics.</a:t>
            </a:r>
            <a:endParaRPr lang="en-US" sz="1800" dirty="0"/>
          </a:p>
        </p:txBody>
      </p:sp>
      <p:sp>
        <p:nvSpPr>
          <p:cNvPr id="7" name="Shape 5"/>
          <p:cNvSpPr/>
          <p:nvPr/>
        </p:nvSpPr>
        <p:spPr>
          <a:xfrm>
            <a:off x="4419600" y="1727200"/>
            <a:ext cx="3352800" cy="1823690"/>
          </a:xfrm>
          <a:prstGeom prst="roundRect">
            <a:avLst>
              <a:gd name="adj" fmla="val 8357"/>
            </a:avLst>
          </a:prstGeom>
          <a:solidFill>
            <a:srgbClr val="1C3A30"/>
          </a:solidFill>
          <a:ln/>
        </p:spPr>
        <p:txBody>
          <a:bodyPr/>
          <a:p/>
        </p:txBody>
      </p:sp>
      <p:sp>
        <p:nvSpPr>
          <p:cNvPr id="8" name="Shape 6"/>
          <p:cNvSpPr/>
          <p:nvPr/>
        </p:nvSpPr>
        <p:spPr>
          <a:xfrm>
            <a:off x="4419600" y="1727200"/>
            <a:ext cx="3352800" cy="1823690"/>
          </a:xfrm>
          <a:custGeom>
            <a:avLst/>
            <a:gdLst/>
            <a:ahLst/>
            <a:cxnLst/>
            <a:rect l="l" t="t" r="r" b="b"/>
            <a:pathLst>
              <a:path w="3352800" h="1823690">
                <a:moveTo>
                  <a:pt x="0" y="152400"/>
                </a:moveTo>
                <a:lnTo>
                  <a:pt x="0" y="152400"/>
                </a:lnTo>
                <a:arcTo hR="152400" wR="152400" stAng="10800000" swAng="5400000"/>
                <a:lnTo>
                  <a:pt x="3200400" y="0"/>
                </a:lnTo>
                <a:arcTo hR="152400" wR="152400" stAng="16200000" swAng="5400000"/>
                <a:lnTo>
                  <a:pt x="3352800" y="152400"/>
                </a:lnTo>
                <a:arcTo hR="76200" wR="152400" stAng="0" swAng="-5400000"/>
                <a:lnTo>
                  <a:pt x="152400" y="76200"/>
                </a:lnTo>
                <a:arcTo hR="76200" wR="152400" stAng="16200000" swAng="-5400000"/>
                <a:close/>
              </a:path>
            </a:pathLst>
          </a:custGeom>
          <a:solidFill>
            <a:srgbClr val="5FC4B0"/>
          </a:solidFill>
          <a:ln/>
        </p:spPr>
        <p:txBody>
          <a:bodyPr/>
          <a:p/>
        </p:txBody>
      </p:sp>
      <p:sp>
        <p:nvSpPr>
          <p:cNvPr id="9" name="Text 7"/>
          <p:cNvSpPr/>
          <p:nvPr/>
        </p:nvSpPr>
        <p:spPr>
          <a:xfrm>
            <a:off x="4724400" y="2108200"/>
            <a:ext cx="2825496" cy="421630"/>
          </a:xfrm>
          <a:prstGeom prst="rect">
            <a:avLst/>
          </a:prstGeom>
          <a:noFill/>
          <a:ln/>
        </p:spPr>
        <p:txBody>
          <a:bodyPr wrap="square" lIns="0" tIns="0" rIns="0" bIns="0" rtlCol="0" anchor="t">
            <a:normAutofit/>
          </a:bodyPr>
          <a:lstStyle/>
          <a:p>
            <a:pPr algn="l" indent="0" marL="0">
              <a:lnSpc>
                <a:spcPts val="3120"/>
              </a:lnSpc>
              <a:buNone/>
            </a:pPr>
            <a:r>
              <a:rPr lang="en-US" sz="2600" b="1" dirty="0">
                <a:solidFill>
                  <a:srgbClr val="5FC4B0"/>
                </a:solidFill>
                <a:latin typeface="Arial" pitchFamily="34" charset="0"/>
                <a:ea typeface="Arial" pitchFamily="34" charset="-122"/>
                <a:cs typeface="Arial" pitchFamily="34" charset="-120"/>
              </a:rPr>
              <a:t>AI</a:t>
            </a:r>
            <a:endParaRPr lang="en-US" sz="2600" dirty="0"/>
          </a:p>
        </p:txBody>
      </p:sp>
      <p:sp>
        <p:nvSpPr>
          <p:cNvPr id="10" name="Text 8"/>
          <p:cNvSpPr/>
          <p:nvPr/>
        </p:nvSpPr>
        <p:spPr>
          <a:xfrm>
            <a:off x="4724400" y="2606030"/>
            <a:ext cx="2825496" cy="66546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D3CC"/>
                </a:solidFill>
                <a:latin typeface="Arial" pitchFamily="34" charset="0"/>
                <a:ea typeface="Arial" pitchFamily="34" charset="-122"/>
                <a:cs typeface="Arial" pitchFamily="34" charset="-120"/>
              </a:rPr>
              <a:t>Reads what the animal sees. Chooses a move.</a:t>
            </a:r>
            <a:endParaRPr lang="en-US" sz="1800" dirty="0"/>
          </a:p>
        </p:txBody>
      </p:sp>
      <p:sp>
        <p:nvSpPr>
          <p:cNvPr id="11" name="Shape 9"/>
          <p:cNvSpPr/>
          <p:nvPr/>
        </p:nvSpPr>
        <p:spPr>
          <a:xfrm>
            <a:off x="8026400" y="1727200"/>
            <a:ext cx="3352800" cy="1823690"/>
          </a:xfrm>
          <a:prstGeom prst="roundRect">
            <a:avLst>
              <a:gd name="adj" fmla="val 8357"/>
            </a:avLst>
          </a:prstGeom>
          <a:solidFill>
            <a:srgbClr val="1C3A30"/>
          </a:solidFill>
          <a:ln/>
        </p:spPr>
        <p:txBody>
          <a:bodyPr/>
          <a:p/>
        </p:txBody>
      </p:sp>
      <p:sp>
        <p:nvSpPr>
          <p:cNvPr id="12" name="Shape 10"/>
          <p:cNvSpPr/>
          <p:nvPr/>
        </p:nvSpPr>
        <p:spPr>
          <a:xfrm>
            <a:off x="8026400" y="1727200"/>
            <a:ext cx="3352800" cy="1823690"/>
          </a:xfrm>
          <a:custGeom>
            <a:avLst/>
            <a:gdLst/>
            <a:ahLst/>
            <a:cxnLst/>
            <a:rect l="l" t="t" r="r" b="b"/>
            <a:pathLst>
              <a:path w="3352800" h="1823690">
                <a:moveTo>
                  <a:pt x="0" y="152400"/>
                </a:moveTo>
                <a:lnTo>
                  <a:pt x="0" y="152400"/>
                </a:lnTo>
                <a:arcTo hR="152400" wR="152400" stAng="10800000" swAng="5400000"/>
                <a:lnTo>
                  <a:pt x="3200400" y="0"/>
                </a:lnTo>
                <a:arcTo hR="152400" wR="152400" stAng="16200000" swAng="5400000"/>
                <a:lnTo>
                  <a:pt x="3352800" y="152400"/>
                </a:lnTo>
                <a:arcTo hR="76200" wR="152400" stAng="0" swAng="-5400000"/>
                <a:lnTo>
                  <a:pt x="152400" y="76200"/>
                </a:lnTo>
                <a:arcTo hR="76200" wR="152400" stAng="16200000" swAng="-5400000"/>
                <a:close/>
              </a:path>
            </a:pathLst>
          </a:custGeom>
          <a:solidFill>
            <a:srgbClr val="F0883E"/>
          </a:solidFill>
          <a:ln/>
        </p:spPr>
        <p:txBody>
          <a:bodyPr/>
          <a:p/>
        </p:txBody>
      </p:sp>
      <p:sp>
        <p:nvSpPr>
          <p:cNvPr id="13" name="Text 11"/>
          <p:cNvSpPr/>
          <p:nvPr/>
        </p:nvSpPr>
        <p:spPr>
          <a:xfrm>
            <a:off x="8331200" y="2108200"/>
            <a:ext cx="2825496" cy="421630"/>
          </a:xfrm>
          <a:prstGeom prst="rect">
            <a:avLst/>
          </a:prstGeom>
          <a:noFill/>
          <a:ln/>
        </p:spPr>
        <p:txBody>
          <a:bodyPr wrap="square" lIns="0" tIns="0" rIns="0" bIns="0" rtlCol="0" anchor="t">
            <a:normAutofit/>
          </a:bodyPr>
          <a:lstStyle/>
          <a:p>
            <a:pPr algn="l" indent="0" marL="0">
              <a:lnSpc>
                <a:spcPts val="3120"/>
              </a:lnSpc>
              <a:buNone/>
            </a:pPr>
            <a:r>
              <a:rPr lang="en-US" sz="2600" b="1" dirty="0">
                <a:solidFill>
                  <a:srgbClr val="F0883E"/>
                </a:solidFill>
                <a:latin typeface="Arial" pitchFamily="34" charset="0"/>
                <a:ea typeface="Arial" pitchFamily="34" charset="-122"/>
                <a:cs typeface="Arial" pitchFamily="34" charset="-120"/>
              </a:rPr>
              <a:t>Display</a:t>
            </a:r>
            <a:endParaRPr lang="en-US" sz="2600" dirty="0"/>
          </a:p>
        </p:txBody>
      </p:sp>
      <p:sp>
        <p:nvSpPr>
          <p:cNvPr id="14" name="Text 12"/>
          <p:cNvSpPr/>
          <p:nvPr/>
        </p:nvSpPr>
        <p:spPr>
          <a:xfrm>
            <a:off x="8331200" y="2606030"/>
            <a:ext cx="2825496" cy="66546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D3CC"/>
                </a:solidFill>
                <a:latin typeface="Arial" pitchFamily="34" charset="0"/>
                <a:ea typeface="Arial" pitchFamily="34" charset="-122"/>
                <a:cs typeface="Arial" pitchFamily="34" charset="-120"/>
              </a:rPr>
              <a:t>pygame draws the state and takes input.</a:t>
            </a:r>
            <a:endParaRPr lang="en-US" sz="1800" dirty="0"/>
          </a:p>
        </p:txBody>
      </p:sp>
      <p:sp>
        <p:nvSpPr>
          <p:cNvPr id="15" name="Text 13"/>
          <p:cNvSpPr/>
          <p:nvPr/>
        </p:nvSpPr>
        <p:spPr>
          <a:xfrm>
            <a:off x="812800" y="3906490"/>
            <a:ext cx="10883392" cy="45209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F3EFE4"/>
                </a:solidFill>
                <a:latin typeface="Arial" pitchFamily="34" charset="0"/>
                <a:ea typeface="Arial" pitchFamily="34" charset="-122"/>
                <a:cs typeface="Arial" pitchFamily="34" charset="-120"/>
              </a:rPr>
              <a:t>Every AI has one shape: </a:t>
            </a:r>
            <a:r>
              <a:rPr lang="en-US" sz="2400" b="1" dirty="0">
                <a:solidFill>
                  <a:srgbClr val="5FC4B0"/>
                </a:solidFill>
                <a:latin typeface="Arial" pitchFamily="34" charset="0"/>
                <a:ea typeface="Arial" pitchFamily="34" charset="-122"/>
                <a:cs typeface="Arial" pitchFamily="34" charset="-120"/>
              </a:rPr>
              <a:t>Observation</a:t>
            </a:r>
            <a:r>
              <a:rPr lang="en-US" sz="2400" b="1" dirty="0">
                <a:solidFill>
                  <a:srgbClr val="F3EFE4"/>
                </a:solidFill>
                <a:latin typeface="Arial" pitchFamily="34" charset="0"/>
                <a:ea typeface="Arial" pitchFamily="34" charset="-122"/>
                <a:cs typeface="Arial" pitchFamily="34" charset="-120"/>
              </a:rPr>
              <a:t> in, </a:t>
            </a:r>
            <a:r>
              <a:rPr lang="en-US" sz="2400" b="1" dirty="0">
                <a:solidFill>
                  <a:srgbClr val="F0883E"/>
                </a:solidFill>
                <a:latin typeface="Arial" pitchFamily="34" charset="0"/>
                <a:ea typeface="Arial" pitchFamily="34" charset="-122"/>
                <a:cs typeface="Arial" pitchFamily="34" charset="-120"/>
              </a:rPr>
              <a:t>Action</a:t>
            </a:r>
            <a:r>
              <a:rPr lang="en-US" sz="2400" b="1" dirty="0">
                <a:solidFill>
                  <a:srgbClr val="F3EFE4"/>
                </a:solidFill>
                <a:latin typeface="Arial" pitchFamily="34" charset="0"/>
                <a:ea typeface="Arial" pitchFamily="34" charset="-122"/>
                <a:cs typeface="Arial" pitchFamily="34" charset="-120"/>
              </a:rPr>
              <a:t> out</a:t>
            </a:r>
            <a:endParaRPr lang="en-US" sz="2400" dirty="0"/>
          </a:p>
        </p:txBody>
      </p:sp>
      <p:sp>
        <p:nvSpPr>
          <p:cNvPr id="16" name="Text 1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FB0A6"/>
                </a:solidFill>
                <a:latin typeface="Arial" pitchFamily="34" charset="0"/>
                <a:ea typeface="Arial" pitchFamily="34" charset="-122"/>
                <a:cs typeface="Arial" pitchFamily="34" charset="-120"/>
              </a:rPr>
              <a:t>4 / 12</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EFE4"/>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842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1B2A24"/>
                </a:solidFill>
                <a:latin typeface="Arial" pitchFamily="34" charset="0"/>
                <a:ea typeface="Arial" pitchFamily="34" charset="-122"/>
                <a:cs typeface="Arial" pitchFamily="34" charset="-120"/>
              </a:rPr>
              <a:t>One Round</a:t>
            </a:r>
            <a:endParaRPr lang="en-US" sz="4000" dirty="0"/>
          </a:p>
        </p:txBody>
      </p:sp>
      <p:sp>
        <p:nvSpPr>
          <p:cNvPr id="3" name="Shape 1"/>
          <p:cNvSpPr/>
          <p:nvPr/>
        </p:nvSpPr>
        <p:spPr>
          <a:xfrm>
            <a:off x="812800" y="1727200"/>
            <a:ext cx="2489200" cy="1529060"/>
          </a:xfrm>
          <a:prstGeom prst="roundRect">
            <a:avLst>
              <a:gd name="adj" fmla="val 9967"/>
            </a:avLst>
          </a:prstGeom>
          <a:solidFill>
            <a:srgbClr val="FFFFFF"/>
          </a:solidFill>
          <a:ln/>
        </p:spPr>
        <p:txBody>
          <a:bodyPr/>
          <a:p/>
        </p:txBody>
      </p:sp>
      <p:sp>
        <p:nvSpPr>
          <p:cNvPr id="4" name="Text 2"/>
          <p:cNvSpPr/>
          <p:nvPr/>
        </p:nvSpPr>
        <p:spPr>
          <a:xfrm>
            <a:off x="1066800" y="1981200"/>
            <a:ext cx="2040636"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0883E"/>
                </a:solidFill>
                <a:latin typeface="Arial" pitchFamily="34" charset="0"/>
                <a:ea typeface="Arial" pitchFamily="34" charset="-122"/>
                <a:cs typeface="Arial" pitchFamily="34" charset="-120"/>
              </a:rPr>
              <a:t>1</a:t>
            </a:r>
            <a:endParaRPr lang="en-US" sz="4800" dirty="0"/>
          </a:p>
        </p:txBody>
      </p:sp>
      <p:sp>
        <p:nvSpPr>
          <p:cNvPr id="5" name="Text 3"/>
          <p:cNvSpPr/>
          <p:nvPr/>
        </p:nvSpPr>
        <p:spPr>
          <a:xfrm>
            <a:off x="1066800" y="2667000"/>
            <a:ext cx="2040636"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B2A24"/>
                </a:solidFill>
                <a:latin typeface="Arial" pitchFamily="34" charset="0"/>
                <a:ea typeface="Arial" pitchFamily="34" charset="-122"/>
                <a:cs typeface="Arial" pitchFamily="34" charset="-120"/>
              </a:rPr>
              <a:t>Predators act</a:t>
            </a:r>
            <a:endParaRPr lang="en-US" sz="2200" dirty="0"/>
          </a:p>
        </p:txBody>
      </p:sp>
      <p:sp>
        <p:nvSpPr>
          <p:cNvPr id="6" name="Shape 4"/>
          <p:cNvSpPr/>
          <p:nvPr/>
        </p:nvSpPr>
        <p:spPr>
          <a:xfrm>
            <a:off x="3505200" y="1727200"/>
            <a:ext cx="2489200" cy="1529060"/>
          </a:xfrm>
          <a:prstGeom prst="roundRect">
            <a:avLst>
              <a:gd name="adj" fmla="val 9967"/>
            </a:avLst>
          </a:prstGeom>
          <a:solidFill>
            <a:srgbClr val="FFFFFF"/>
          </a:solidFill>
          <a:ln/>
        </p:spPr>
        <p:txBody>
          <a:bodyPr/>
          <a:p/>
        </p:txBody>
      </p:sp>
      <p:sp>
        <p:nvSpPr>
          <p:cNvPr id="7" name="Text 5"/>
          <p:cNvSpPr/>
          <p:nvPr/>
        </p:nvSpPr>
        <p:spPr>
          <a:xfrm>
            <a:off x="3759200" y="1981200"/>
            <a:ext cx="2040636"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2F9C88"/>
                </a:solidFill>
                <a:latin typeface="Arial" pitchFamily="34" charset="0"/>
                <a:ea typeface="Arial" pitchFamily="34" charset="-122"/>
                <a:cs typeface="Arial" pitchFamily="34" charset="-120"/>
              </a:rPr>
              <a:t>2</a:t>
            </a:r>
            <a:endParaRPr lang="en-US" sz="4800" dirty="0"/>
          </a:p>
        </p:txBody>
      </p:sp>
      <p:sp>
        <p:nvSpPr>
          <p:cNvPr id="8" name="Text 6"/>
          <p:cNvSpPr/>
          <p:nvPr/>
        </p:nvSpPr>
        <p:spPr>
          <a:xfrm>
            <a:off x="3759200" y="2667000"/>
            <a:ext cx="2040636"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B2A24"/>
                </a:solidFill>
                <a:latin typeface="Arial" pitchFamily="34" charset="0"/>
                <a:ea typeface="Arial" pitchFamily="34" charset="-122"/>
                <a:cs typeface="Arial" pitchFamily="34" charset="-120"/>
              </a:rPr>
              <a:t>Prey act</a:t>
            </a:r>
            <a:endParaRPr lang="en-US" sz="2200" dirty="0"/>
          </a:p>
        </p:txBody>
      </p:sp>
      <p:sp>
        <p:nvSpPr>
          <p:cNvPr id="9" name="Shape 7"/>
          <p:cNvSpPr/>
          <p:nvPr/>
        </p:nvSpPr>
        <p:spPr>
          <a:xfrm>
            <a:off x="6197600" y="1727200"/>
            <a:ext cx="2489200" cy="1529060"/>
          </a:xfrm>
          <a:prstGeom prst="roundRect">
            <a:avLst>
              <a:gd name="adj" fmla="val 9967"/>
            </a:avLst>
          </a:prstGeom>
          <a:solidFill>
            <a:srgbClr val="FFFFFF"/>
          </a:solidFill>
          <a:ln/>
        </p:spPr>
        <p:txBody>
          <a:bodyPr/>
          <a:p/>
        </p:txBody>
      </p:sp>
      <p:sp>
        <p:nvSpPr>
          <p:cNvPr id="10" name="Text 8"/>
          <p:cNvSpPr/>
          <p:nvPr/>
        </p:nvSpPr>
        <p:spPr>
          <a:xfrm>
            <a:off x="6451600" y="1981200"/>
            <a:ext cx="2040636"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1B2A24"/>
                </a:solidFill>
                <a:latin typeface="Arial" pitchFamily="34" charset="0"/>
                <a:ea typeface="Arial" pitchFamily="34" charset="-122"/>
                <a:cs typeface="Arial" pitchFamily="34" charset="-120"/>
              </a:rPr>
              <a:t>3</a:t>
            </a:r>
            <a:endParaRPr lang="en-US" sz="4800" dirty="0"/>
          </a:p>
        </p:txBody>
      </p:sp>
      <p:sp>
        <p:nvSpPr>
          <p:cNvPr id="11" name="Text 9"/>
          <p:cNvSpPr/>
          <p:nvPr/>
        </p:nvSpPr>
        <p:spPr>
          <a:xfrm>
            <a:off x="6451600" y="2667000"/>
            <a:ext cx="2040636"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B2A24"/>
                </a:solidFill>
                <a:latin typeface="Arial" pitchFamily="34" charset="0"/>
                <a:ea typeface="Arial" pitchFamily="34" charset="-122"/>
                <a:cs typeface="Arial" pitchFamily="34" charset="-120"/>
              </a:rPr>
              <a:t>Check win</a:t>
            </a:r>
            <a:endParaRPr lang="en-US" sz="2200" dirty="0"/>
          </a:p>
        </p:txBody>
      </p:sp>
      <p:sp>
        <p:nvSpPr>
          <p:cNvPr id="12" name="Shape 10"/>
          <p:cNvSpPr/>
          <p:nvPr/>
        </p:nvSpPr>
        <p:spPr>
          <a:xfrm>
            <a:off x="8890000" y="1727200"/>
            <a:ext cx="2489200" cy="1529060"/>
          </a:xfrm>
          <a:prstGeom prst="roundRect">
            <a:avLst>
              <a:gd name="adj" fmla="val 9967"/>
            </a:avLst>
          </a:prstGeom>
          <a:solidFill>
            <a:srgbClr val="FFFFFF"/>
          </a:solidFill>
          <a:ln/>
        </p:spPr>
        <p:txBody>
          <a:bodyPr/>
          <a:p/>
        </p:txBody>
      </p:sp>
      <p:sp>
        <p:nvSpPr>
          <p:cNvPr id="13" name="Text 11"/>
          <p:cNvSpPr/>
          <p:nvPr/>
        </p:nvSpPr>
        <p:spPr>
          <a:xfrm>
            <a:off x="9144000" y="1981200"/>
            <a:ext cx="2040636"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1B2A24"/>
                </a:solidFill>
                <a:latin typeface="Arial" pitchFamily="34" charset="0"/>
                <a:ea typeface="Arial" pitchFamily="34" charset="-122"/>
                <a:cs typeface="Arial" pitchFamily="34" charset="-120"/>
              </a:rPr>
              <a:t>4</a:t>
            </a:r>
            <a:endParaRPr lang="en-US" sz="4800" dirty="0"/>
          </a:p>
        </p:txBody>
      </p:sp>
      <p:sp>
        <p:nvSpPr>
          <p:cNvPr id="14" name="Text 12"/>
          <p:cNvSpPr/>
          <p:nvPr/>
        </p:nvSpPr>
        <p:spPr>
          <a:xfrm>
            <a:off x="9144000" y="2667000"/>
            <a:ext cx="2040636"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B2A24"/>
                </a:solidFill>
                <a:latin typeface="Arial" pitchFamily="34" charset="0"/>
                <a:ea typeface="Arial" pitchFamily="34" charset="-122"/>
                <a:cs typeface="Arial" pitchFamily="34" charset="-120"/>
              </a:rPr>
              <a:t>Log round</a:t>
            </a:r>
            <a:endParaRPr lang="en-US" sz="2200" dirty="0"/>
          </a:p>
        </p:txBody>
      </p:sp>
      <p:sp>
        <p:nvSpPr>
          <p:cNvPr id="15" name="Text 13"/>
          <p:cNvSpPr/>
          <p:nvPr/>
        </p:nvSpPr>
        <p:spPr>
          <a:xfrm>
            <a:off x="812800" y="3611860"/>
            <a:ext cx="10883392"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B2A24"/>
                </a:solidFill>
                <a:latin typeface="Arial" pitchFamily="34" charset="0"/>
                <a:ea typeface="Arial" pitchFamily="34" charset="-122"/>
                <a:cs typeface="Arial" pitchFamily="34" charset="-120"/>
              </a:rPr>
              <a:t>Each animal: observe → decide → move → attack or eat</a:t>
            </a:r>
            <a:endParaRPr lang="en-US" sz="2200" dirty="0"/>
          </a:p>
        </p:txBody>
      </p:sp>
      <p:sp>
        <p:nvSpPr>
          <p:cNvPr id="16" name="Text 1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971"/>
                </a:solidFill>
                <a:latin typeface="Arial" pitchFamily="34" charset="0"/>
                <a:ea typeface="Arial" pitchFamily="34" charset="-122"/>
                <a:cs typeface="Arial" pitchFamily="34" charset="-120"/>
              </a:rPr>
              <a:t>5 / 12</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261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842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F3EFE4"/>
                </a:solidFill>
                <a:latin typeface="Arial" pitchFamily="34" charset="0"/>
                <a:ea typeface="Arial" pitchFamily="34" charset="-122"/>
                <a:cs typeface="Arial" pitchFamily="34" charset="-120"/>
              </a:rPr>
              <a:t>Prey: State Machine</a:t>
            </a:r>
            <a:endParaRPr lang="en-US" sz="4000" dirty="0"/>
          </a:p>
        </p:txBody>
      </p:sp>
      <p:sp>
        <p:nvSpPr>
          <p:cNvPr id="3" name="Shape 1"/>
          <p:cNvSpPr/>
          <p:nvPr/>
        </p:nvSpPr>
        <p:spPr>
          <a:xfrm>
            <a:off x="812800" y="1727200"/>
            <a:ext cx="3352800" cy="1813471"/>
          </a:xfrm>
          <a:prstGeom prst="roundRect">
            <a:avLst>
              <a:gd name="adj" fmla="val 8404"/>
            </a:avLst>
          </a:prstGeom>
          <a:solidFill>
            <a:srgbClr val="5FC4B0"/>
          </a:solidFill>
          <a:ln/>
        </p:spPr>
        <p:txBody>
          <a:bodyPr/>
          <a:p/>
        </p:txBody>
      </p:sp>
      <p:sp>
        <p:nvSpPr>
          <p:cNvPr id="4" name="Text 2"/>
          <p:cNvSpPr/>
          <p:nvPr/>
        </p:nvSpPr>
        <p:spPr>
          <a:xfrm>
            <a:off x="1117600" y="2032000"/>
            <a:ext cx="2825496" cy="452090"/>
          </a:xfrm>
          <a:prstGeom prst="rect">
            <a:avLst/>
          </a:prstGeom>
          <a:noFill/>
          <a:ln/>
        </p:spPr>
        <p:txBody>
          <a:bodyPr wrap="square" lIns="0" tIns="0" rIns="0" bIns="0" rtlCol="0" anchor="t">
            <a:normAutofit/>
          </a:bodyPr>
          <a:lstStyle/>
          <a:p>
            <a:pPr algn="l" indent="0" marL="0">
              <a:lnSpc>
                <a:spcPts val="3360"/>
              </a:lnSpc>
              <a:buNone/>
            </a:pPr>
            <a:r>
              <a:rPr lang="en-US" sz="2800" b="1" dirty="0">
                <a:solidFill>
                  <a:srgbClr val="12261F"/>
                </a:solidFill>
                <a:latin typeface="Arial" pitchFamily="34" charset="0"/>
                <a:ea typeface="Arial" pitchFamily="34" charset="-122"/>
                <a:cs typeface="Arial" pitchFamily="34" charset="-120"/>
              </a:rPr>
              <a:t>NORMAL</a:t>
            </a:r>
            <a:endParaRPr lang="en-US" sz="2800" dirty="0"/>
          </a:p>
        </p:txBody>
      </p:sp>
      <p:sp>
        <p:nvSpPr>
          <p:cNvPr id="5" name="Text 3"/>
          <p:cNvSpPr/>
          <p:nvPr/>
        </p:nvSpPr>
        <p:spPr>
          <a:xfrm>
            <a:off x="1117600" y="2560290"/>
            <a:ext cx="2825496" cy="700980"/>
          </a:xfrm>
          <a:prstGeom prst="rect">
            <a:avLst/>
          </a:prstGeom>
          <a:noFill/>
          <a:ln/>
        </p:spPr>
        <p:txBody>
          <a:bodyPr wrap="square" lIns="0" tIns="0" rIns="0" bIns="0" rtlCol="0" anchor="t">
            <a:normAutofit/>
          </a:bodyPr>
          <a:lstStyle/>
          <a:p>
            <a:pPr algn="l" indent="0" marL="0">
              <a:lnSpc>
                <a:spcPts val="2660"/>
              </a:lnSpc>
              <a:buNone/>
            </a:pPr>
            <a:r>
              <a:rPr lang="en-US" sz="1900" dirty="0">
                <a:solidFill>
                  <a:srgbClr val="12261F"/>
                </a:solidFill>
                <a:latin typeface="Arial" pitchFamily="34" charset="0"/>
                <a:ea typeface="Arial" pitchFamily="34" charset="-122"/>
                <a:cs typeface="Arial" pitchFamily="34" charset="-120"/>
              </a:rPr>
              <a:t>Walk to the flock's food goal</a:t>
            </a:r>
            <a:endParaRPr lang="en-US" sz="1900" dirty="0"/>
          </a:p>
        </p:txBody>
      </p:sp>
      <p:sp>
        <p:nvSpPr>
          <p:cNvPr id="6" name="Shape 4"/>
          <p:cNvSpPr/>
          <p:nvPr/>
        </p:nvSpPr>
        <p:spPr>
          <a:xfrm>
            <a:off x="4419600" y="1727200"/>
            <a:ext cx="3352800" cy="1813471"/>
          </a:xfrm>
          <a:prstGeom prst="roundRect">
            <a:avLst>
              <a:gd name="adj" fmla="val 8404"/>
            </a:avLst>
          </a:prstGeom>
          <a:solidFill>
            <a:srgbClr val="E9C46A"/>
          </a:solidFill>
          <a:ln/>
        </p:spPr>
        <p:txBody>
          <a:bodyPr/>
          <a:p/>
        </p:txBody>
      </p:sp>
      <p:sp>
        <p:nvSpPr>
          <p:cNvPr id="7" name="Text 5"/>
          <p:cNvSpPr/>
          <p:nvPr/>
        </p:nvSpPr>
        <p:spPr>
          <a:xfrm>
            <a:off x="4724400" y="2032000"/>
            <a:ext cx="2825496" cy="452090"/>
          </a:xfrm>
          <a:prstGeom prst="rect">
            <a:avLst/>
          </a:prstGeom>
          <a:noFill/>
          <a:ln/>
        </p:spPr>
        <p:txBody>
          <a:bodyPr wrap="square" lIns="0" tIns="0" rIns="0" bIns="0" rtlCol="0" anchor="t">
            <a:normAutofit/>
          </a:bodyPr>
          <a:lstStyle/>
          <a:p>
            <a:pPr algn="l" indent="0" marL="0">
              <a:lnSpc>
                <a:spcPts val="3360"/>
              </a:lnSpc>
              <a:buNone/>
            </a:pPr>
            <a:r>
              <a:rPr lang="en-US" sz="2800" b="1" dirty="0">
                <a:solidFill>
                  <a:srgbClr val="12261F"/>
                </a:solidFill>
                <a:latin typeface="Arial" pitchFamily="34" charset="0"/>
                <a:ea typeface="Arial" pitchFamily="34" charset="-122"/>
                <a:cs typeface="Arial" pitchFamily="34" charset="-120"/>
              </a:rPr>
              <a:t>PANIC</a:t>
            </a:r>
            <a:endParaRPr lang="en-US" sz="2800" dirty="0"/>
          </a:p>
        </p:txBody>
      </p:sp>
      <p:sp>
        <p:nvSpPr>
          <p:cNvPr id="8" name="Text 6"/>
          <p:cNvSpPr/>
          <p:nvPr/>
        </p:nvSpPr>
        <p:spPr>
          <a:xfrm>
            <a:off x="4724400" y="2560290"/>
            <a:ext cx="2825496" cy="700980"/>
          </a:xfrm>
          <a:prstGeom prst="rect">
            <a:avLst/>
          </a:prstGeom>
          <a:noFill/>
          <a:ln/>
        </p:spPr>
        <p:txBody>
          <a:bodyPr wrap="square" lIns="0" tIns="0" rIns="0" bIns="0" rtlCol="0" anchor="t">
            <a:normAutofit/>
          </a:bodyPr>
          <a:lstStyle/>
          <a:p>
            <a:pPr algn="l" indent="0" marL="0">
              <a:lnSpc>
                <a:spcPts val="2660"/>
              </a:lnSpc>
              <a:buNone/>
            </a:pPr>
            <a:r>
              <a:rPr lang="en-US" sz="1900" dirty="0">
                <a:solidFill>
                  <a:srgbClr val="12261F"/>
                </a:solidFill>
                <a:latin typeface="Arial" pitchFamily="34" charset="0"/>
                <a:ea typeface="Arial" pitchFamily="34" charset="-122"/>
                <a:cs typeface="Arial" pitchFamily="34" charset="-120"/>
              </a:rPr>
              <a:t>Predator within 6 tiles: flee</a:t>
            </a:r>
            <a:endParaRPr lang="en-US" sz="1900" dirty="0"/>
          </a:p>
        </p:txBody>
      </p:sp>
      <p:sp>
        <p:nvSpPr>
          <p:cNvPr id="9" name="Shape 7"/>
          <p:cNvSpPr/>
          <p:nvPr/>
        </p:nvSpPr>
        <p:spPr>
          <a:xfrm>
            <a:off x="8026400" y="1727200"/>
            <a:ext cx="3352800" cy="1813471"/>
          </a:xfrm>
          <a:prstGeom prst="roundRect">
            <a:avLst>
              <a:gd name="adj" fmla="val 8404"/>
            </a:avLst>
          </a:prstGeom>
          <a:solidFill>
            <a:srgbClr val="B8A1FF"/>
          </a:solidFill>
          <a:ln/>
        </p:spPr>
        <p:txBody>
          <a:bodyPr/>
          <a:p/>
        </p:txBody>
      </p:sp>
      <p:sp>
        <p:nvSpPr>
          <p:cNvPr id="10" name="Text 8"/>
          <p:cNvSpPr/>
          <p:nvPr/>
        </p:nvSpPr>
        <p:spPr>
          <a:xfrm>
            <a:off x="8331200" y="2032000"/>
            <a:ext cx="2825496" cy="452090"/>
          </a:xfrm>
          <a:prstGeom prst="rect">
            <a:avLst/>
          </a:prstGeom>
          <a:noFill/>
          <a:ln/>
        </p:spPr>
        <p:txBody>
          <a:bodyPr wrap="square" lIns="0" tIns="0" rIns="0" bIns="0" rtlCol="0" anchor="t">
            <a:normAutofit/>
          </a:bodyPr>
          <a:lstStyle/>
          <a:p>
            <a:pPr algn="l" indent="0" marL="0">
              <a:lnSpc>
                <a:spcPts val="3360"/>
              </a:lnSpc>
              <a:buNone/>
            </a:pPr>
            <a:r>
              <a:rPr lang="en-US" sz="2800" b="1" dirty="0">
                <a:solidFill>
                  <a:srgbClr val="12261F"/>
                </a:solidFill>
                <a:latin typeface="Arial" pitchFamily="34" charset="0"/>
                <a:ea typeface="Arial" pitchFamily="34" charset="-122"/>
                <a:cs typeface="Arial" pitchFamily="34" charset="-120"/>
              </a:rPr>
              <a:t>DESPAIR</a:t>
            </a:r>
            <a:endParaRPr lang="en-US" sz="2800" dirty="0"/>
          </a:p>
        </p:txBody>
      </p:sp>
      <p:sp>
        <p:nvSpPr>
          <p:cNvPr id="11" name="Text 9"/>
          <p:cNvSpPr/>
          <p:nvPr/>
        </p:nvSpPr>
        <p:spPr>
          <a:xfrm>
            <a:off x="8331200" y="2560290"/>
            <a:ext cx="2825496" cy="700980"/>
          </a:xfrm>
          <a:prstGeom prst="rect">
            <a:avLst/>
          </a:prstGeom>
          <a:noFill/>
          <a:ln/>
        </p:spPr>
        <p:txBody>
          <a:bodyPr wrap="square" lIns="0" tIns="0" rIns="0" bIns="0" rtlCol="0" anchor="t">
            <a:normAutofit/>
          </a:bodyPr>
          <a:lstStyle/>
          <a:p>
            <a:pPr algn="l" indent="0" marL="0">
              <a:lnSpc>
                <a:spcPts val="2660"/>
              </a:lnSpc>
              <a:buNone/>
            </a:pPr>
            <a:r>
              <a:rPr lang="en-US" sz="1900" dirty="0">
                <a:solidFill>
                  <a:srgbClr val="12261F"/>
                </a:solidFill>
                <a:latin typeface="Arial" pitchFamily="34" charset="0"/>
                <a:ea typeface="Arial" pitchFamily="34" charset="-122"/>
                <a:cs typeface="Arial" pitchFamily="34" charset="-120"/>
              </a:rPr>
              <a:t>A flockmate was hit: flee and regroup</a:t>
            </a:r>
            <a:endParaRPr lang="en-US" sz="1900" dirty="0"/>
          </a:p>
        </p:txBody>
      </p:sp>
      <p:sp>
        <p:nvSpPr>
          <p:cNvPr id="12" name="Text 10"/>
          <p:cNvSpPr/>
          <p:nvPr/>
        </p:nvSpPr>
        <p:spPr>
          <a:xfrm>
            <a:off x="812800" y="3896271"/>
            <a:ext cx="2263130" cy="609600"/>
          </a:xfrm>
          <a:prstGeom prst="roundRect">
            <a:avLst>
              <a:gd name="adj" fmla="val 50000"/>
            </a:avLst>
          </a:prstGeom>
          <a:solidFill>
            <a:srgbClr val="1C3A30"/>
          </a:solidFill>
          <a:ln/>
        </p:spPr>
        <p:txBody>
          <a:bodyPr wrap="none" lIns="0" tIns="0" rIns="0" bIns="0" rtlCol="0" anchor="ctr">
            <a:normAutofit/>
          </a:bodyPr>
          <a:lstStyle/>
          <a:p>
            <a:pPr algn="ctr" indent="0" marL="0">
              <a:lnSpc>
                <a:spcPts val="2800"/>
              </a:lnSpc>
              <a:buNone/>
            </a:pPr>
            <a:r>
              <a:rPr lang="en-US" sz="2000" b="1" dirty="0">
                <a:solidFill>
                  <a:srgbClr val="F3EFE4"/>
                </a:solidFill>
                <a:latin typeface="Arial" pitchFamily="34" charset="0"/>
                <a:ea typeface="Arial" pitchFamily="34" charset="-122"/>
                <a:cs typeface="Arial" pitchFamily="34" charset="-120"/>
              </a:rPr>
              <a:t>BFS finds food</a:t>
            </a:r>
            <a:endParaRPr lang="en-US" sz="2000" dirty="0"/>
          </a:p>
        </p:txBody>
      </p:sp>
      <p:sp>
        <p:nvSpPr>
          <p:cNvPr id="13" name="Text 11"/>
          <p:cNvSpPr/>
          <p:nvPr/>
        </p:nvSpPr>
        <p:spPr>
          <a:xfrm>
            <a:off x="3228330" y="3896271"/>
            <a:ext cx="2193677" cy="609600"/>
          </a:xfrm>
          <a:prstGeom prst="roundRect">
            <a:avLst>
              <a:gd name="adj" fmla="val 50000"/>
            </a:avLst>
          </a:prstGeom>
          <a:solidFill>
            <a:srgbClr val="1C3A30"/>
          </a:solidFill>
          <a:ln/>
        </p:spPr>
        <p:txBody>
          <a:bodyPr wrap="none" lIns="0" tIns="0" rIns="0" bIns="0" rtlCol="0" anchor="ctr">
            <a:normAutofit/>
          </a:bodyPr>
          <a:lstStyle/>
          <a:p>
            <a:pPr algn="ctr" indent="0" marL="0">
              <a:lnSpc>
                <a:spcPts val="2800"/>
              </a:lnSpc>
              <a:buNone/>
            </a:pPr>
            <a:r>
              <a:rPr lang="en-US" sz="2000" b="1" dirty="0">
                <a:solidFill>
                  <a:srgbClr val="F3EFE4"/>
                </a:solidFill>
                <a:latin typeface="Arial" pitchFamily="34" charset="0"/>
                <a:ea typeface="Arial" pitchFamily="34" charset="-122"/>
                <a:cs typeface="Arial" pitchFamily="34" charset="-120"/>
              </a:rPr>
              <a:t>A* walks there</a:t>
            </a:r>
            <a:endParaRPr lang="en-US" sz="2000" dirty="0"/>
          </a:p>
        </p:txBody>
      </p:sp>
      <p:sp>
        <p:nvSpPr>
          <p:cNvPr id="14" name="Text 12"/>
          <p:cNvSpPr/>
          <p:nvPr/>
        </p:nvSpPr>
        <p:spPr>
          <a:xfrm>
            <a:off x="5574407" y="3896271"/>
            <a:ext cx="2857450" cy="609600"/>
          </a:xfrm>
          <a:prstGeom prst="roundRect">
            <a:avLst>
              <a:gd name="adj" fmla="val 50000"/>
            </a:avLst>
          </a:prstGeom>
          <a:solidFill>
            <a:srgbClr val="1C3A30"/>
          </a:solidFill>
          <a:ln/>
        </p:spPr>
        <p:txBody>
          <a:bodyPr wrap="none" lIns="0" tIns="0" rIns="0" bIns="0" rtlCol="0" anchor="ctr">
            <a:normAutofit/>
          </a:bodyPr>
          <a:lstStyle/>
          <a:p>
            <a:pPr algn="ctr" indent="0" marL="0">
              <a:lnSpc>
                <a:spcPts val="2800"/>
              </a:lnSpc>
              <a:buNone/>
            </a:pPr>
            <a:r>
              <a:rPr lang="en-US" sz="2000" b="1" dirty="0">
                <a:solidFill>
                  <a:srgbClr val="F3EFE4"/>
                </a:solidFill>
                <a:latin typeface="Arial" pitchFamily="34" charset="0"/>
                <a:ea typeface="Arial" pitchFamily="34" charset="-122"/>
                <a:cs typeface="Arial" pitchFamily="34" charset="-120"/>
              </a:rPr>
              <a:t>fcost picks escapes</a:t>
            </a:r>
            <a:endParaRPr lang="en-US" sz="2000" dirty="0"/>
          </a:p>
        </p:txBody>
      </p:sp>
      <p:sp>
        <p:nvSpPr>
          <p:cNvPr id="15" name="Text 1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FB0A6"/>
                </a:solidFill>
                <a:latin typeface="Arial" pitchFamily="34" charset="0"/>
                <a:ea typeface="Arial" pitchFamily="34" charset="-122"/>
                <a:cs typeface="Arial" pitchFamily="34" charset="-120"/>
              </a:rPr>
              <a:t>6 / 12</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EFE4"/>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842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1B2A24"/>
                </a:solidFill>
                <a:latin typeface="Arial" pitchFamily="34" charset="0"/>
                <a:ea typeface="Arial" pitchFamily="34" charset="-122"/>
                <a:cs typeface="Arial" pitchFamily="34" charset="-120"/>
              </a:rPr>
              <a:t>Prey Scoring: fcost</a:t>
            </a:r>
            <a:endParaRPr lang="en-US" sz="4000" dirty="0"/>
          </a:p>
        </p:txBody>
      </p:sp>
      <p:pic>
        <p:nvPicPr>
          <p:cNvPr id="3" name="Image 0" descr="Three by three grid around the deer with fcost scores; the food tile at top right scores 13, the highest">    </p:cNvPr>
          <p:cNvPicPr>
            <a:picLocks noChangeAspect="1"/>
          </p:cNvPicPr>
          <p:nvPr/>
        </p:nvPicPr>
        <p:blipFill>
          <a:blip r:embed="rId1"/>
          <a:srcRect l="0" r="0" t="0" b="0"/>
          <a:stretch/>
        </p:blipFill>
        <p:spPr>
          <a:xfrm>
            <a:off x="812800" y="1676400"/>
            <a:ext cx="3937000" cy="3937000"/>
          </a:xfrm>
          <a:prstGeom prst="rect">
            <a:avLst/>
          </a:prstGeom>
        </p:spPr>
      </p:pic>
      <p:sp>
        <p:nvSpPr>
          <p:cNvPr id="4" name="Text 1"/>
          <p:cNvSpPr/>
          <p:nvPr/>
        </p:nvSpPr>
        <p:spPr>
          <a:xfrm>
            <a:off x="5257800" y="2501950"/>
            <a:ext cx="6305042"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D96A1F"/>
                </a:solidFill>
                <a:latin typeface="Arial" pitchFamily="34" charset="0"/>
                <a:ea typeface="Arial" pitchFamily="34" charset="-122"/>
                <a:cs typeface="Arial" pitchFamily="34" charset="-120"/>
              </a:rPr>
              <a:t>1</a:t>
            </a:r>
            <a:r>
              <a:rPr lang="en-US" sz="2200" dirty="0">
                <a:solidFill>
                  <a:srgbClr val="1B2A24"/>
                </a:solidFill>
                <a:latin typeface="Arial" pitchFamily="34" charset="0"/>
                <a:ea typeface="Arial" pitchFamily="34" charset="-122"/>
                <a:cs typeface="Arial" pitchFamily="34" charset="-120"/>
              </a:rPr>
              <a:t> Rank tiles by distance from the tiger</a:t>
            </a:r>
            <a:endParaRPr lang="en-US" sz="2200" dirty="0"/>
          </a:p>
        </p:txBody>
      </p:sp>
      <p:sp>
        <p:nvSpPr>
          <p:cNvPr id="5" name="Text 2"/>
          <p:cNvSpPr/>
          <p:nvPr/>
        </p:nvSpPr>
        <p:spPr>
          <a:xfrm>
            <a:off x="5257800" y="3121670"/>
            <a:ext cx="6305042"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D96A1F"/>
                </a:solidFill>
                <a:latin typeface="Arial" pitchFamily="34" charset="0"/>
                <a:ea typeface="Arial" pitchFamily="34" charset="-122"/>
                <a:cs typeface="Arial" pitchFamily="34" charset="-120"/>
              </a:rPr>
              <a:t>2</a:t>
            </a:r>
            <a:r>
              <a:rPr lang="en-US" sz="2200" dirty="0">
                <a:solidFill>
                  <a:srgbClr val="1B2A24"/>
                </a:solidFill>
                <a:latin typeface="Arial" pitchFamily="34" charset="0"/>
                <a:ea typeface="Arial" pitchFamily="34" charset="-122"/>
                <a:cs typeface="Arial" pitchFamily="34" charset="-120"/>
              </a:rPr>
              <a:t> Rank tiles by distance to food</a:t>
            </a:r>
            <a:endParaRPr lang="en-US" sz="2200" dirty="0"/>
          </a:p>
        </p:txBody>
      </p:sp>
      <p:sp>
        <p:nvSpPr>
          <p:cNvPr id="6" name="Text 3"/>
          <p:cNvSpPr/>
          <p:nvPr/>
        </p:nvSpPr>
        <p:spPr>
          <a:xfrm>
            <a:off x="5257800" y="3741390"/>
            <a:ext cx="6305042"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D96A1F"/>
                </a:solidFill>
                <a:latin typeface="Arial" pitchFamily="34" charset="0"/>
                <a:ea typeface="Arial" pitchFamily="34" charset="-122"/>
                <a:cs typeface="Arial" pitchFamily="34" charset="-120"/>
              </a:rPr>
              <a:t>3</a:t>
            </a:r>
            <a:r>
              <a:rPr lang="en-US" sz="2200" dirty="0">
                <a:solidFill>
                  <a:srgbClr val="1B2A24"/>
                </a:solidFill>
                <a:latin typeface="Arial" pitchFamily="34" charset="0"/>
                <a:ea typeface="Arial" pitchFamily="34" charset="-122"/>
                <a:cs typeface="Arial" pitchFamily="34" charset="-120"/>
              </a:rPr>
              <a:t> Add the ranks. Highest wins.</a:t>
            </a:r>
            <a:endParaRPr lang="en-US" sz="2200" dirty="0"/>
          </a:p>
        </p:txBody>
      </p:sp>
      <p:sp>
        <p:nvSpPr>
          <p:cNvPr id="7" name="Text 4"/>
          <p:cNvSpPr/>
          <p:nvPr/>
        </p:nvSpPr>
        <p:spPr>
          <a:xfrm>
            <a:off x="5257800" y="4361111"/>
            <a:ext cx="6305042" cy="45209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2F9C88"/>
                </a:solidFill>
                <a:latin typeface="Arial" pitchFamily="34" charset="0"/>
                <a:ea typeface="Arial" pitchFamily="34" charset="-122"/>
                <a:cs typeface="Arial" pitchFamily="34" charset="-120"/>
              </a:rPr>
              <a:t>Deer moves to the food: 13</a:t>
            </a:r>
            <a:endParaRPr lang="en-US" sz="2400" dirty="0"/>
          </a:p>
        </p:txBody>
      </p:sp>
      <p:sp>
        <p:nvSpPr>
          <p:cNvPr id="8" name="Text 5"/>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971"/>
                </a:solidFill>
                <a:latin typeface="Arial" pitchFamily="34" charset="0"/>
                <a:ea typeface="Arial" pitchFamily="34" charset="-122"/>
                <a:cs typeface="Arial" pitchFamily="34" charset="-120"/>
              </a:rPr>
              <a:t>Real example from the game: seed 7, round 1. The tiger is 4 tiles to the left.</a:t>
            </a:r>
            <a:endParaRPr lang="en-US" sz="1200" dirty="0"/>
          </a:p>
        </p:txBody>
      </p:sp>
      <p:sp>
        <p:nvSpPr>
          <p:cNvPr id="9" name="Text 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971"/>
                </a:solidFill>
                <a:latin typeface="Arial" pitchFamily="34" charset="0"/>
                <a:ea typeface="Arial" pitchFamily="34" charset="-122"/>
                <a:cs typeface="Arial" pitchFamily="34" charset="-120"/>
              </a:rPr>
              <a:t>7 / 12</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EFE4"/>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842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1B2A24"/>
                </a:solidFill>
                <a:latin typeface="Arial" pitchFamily="34" charset="0"/>
                <a:ea typeface="Arial" pitchFamily="34" charset="-122"/>
                <a:cs typeface="Arial" pitchFamily="34" charset="-120"/>
              </a:rPr>
              <a:t>Predator Tactics</a:t>
            </a:r>
            <a:endParaRPr lang="en-US" sz="4000" dirty="0"/>
          </a:p>
        </p:txBody>
      </p:sp>
      <p:sp>
        <p:nvSpPr>
          <p:cNvPr id="3" name="Shape 1"/>
          <p:cNvSpPr/>
          <p:nvPr/>
        </p:nvSpPr>
        <p:spPr>
          <a:xfrm>
            <a:off x="812800" y="1727200"/>
            <a:ext cx="3352800" cy="2197001"/>
          </a:xfrm>
          <a:prstGeom prst="roundRect">
            <a:avLst>
              <a:gd name="adj" fmla="val 6937"/>
            </a:avLst>
          </a:prstGeom>
          <a:solidFill>
            <a:srgbClr val="FFFFFF"/>
          </a:solidFill>
          <a:ln/>
        </p:spPr>
        <p:txBody>
          <a:bodyPr/>
          <a:p/>
        </p:txBody>
      </p:sp>
      <p:sp>
        <p:nvSpPr>
          <p:cNvPr id="4" name="Shape 2"/>
          <p:cNvSpPr/>
          <p:nvPr/>
        </p:nvSpPr>
        <p:spPr>
          <a:xfrm>
            <a:off x="812800" y="1727200"/>
            <a:ext cx="3352800" cy="2197001"/>
          </a:xfrm>
          <a:custGeom>
            <a:avLst/>
            <a:gdLst/>
            <a:ahLst/>
            <a:cxnLst/>
            <a:rect l="l" t="t" r="r" b="b"/>
            <a:pathLst>
              <a:path w="3352800" h="2197001">
                <a:moveTo>
                  <a:pt x="0" y="152400"/>
                </a:moveTo>
                <a:lnTo>
                  <a:pt x="0" y="152400"/>
                </a:lnTo>
                <a:arcTo hR="152400" wR="152400" stAng="10800000" swAng="5400000"/>
                <a:lnTo>
                  <a:pt x="3200400" y="0"/>
                </a:lnTo>
                <a:arcTo hR="152400" wR="152400" stAng="16200000" swAng="5400000"/>
                <a:lnTo>
                  <a:pt x="3352800" y="152400"/>
                </a:lnTo>
                <a:arcTo hR="76200" wR="152400" stAng="0" swAng="-5400000"/>
                <a:lnTo>
                  <a:pt x="152400" y="76200"/>
                </a:lnTo>
                <a:arcTo hR="76200" wR="152400" stAng="16200000" swAng="-5400000"/>
                <a:close/>
              </a:path>
            </a:pathLst>
          </a:custGeom>
          <a:solidFill>
            <a:srgbClr val="F0883E"/>
          </a:solidFill>
          <a:ln/>
        </p:spPr>
        <p:txBody>
          <a:bodyPr/>
          <a:p/>
        </p:txBody>
      </p:sp>
      <p:sp>
        <p:nvSpPr>
          <p:cNvPr id="5" name="Text 3"/>
          <p:cNvSpPr/>
          <p:nvPr/>
        </p:nvSpPr>
        <p:spPr>
          <a:xfrm>
            <a:off x="1117600" y="2108200"/>
            <a:ext cx="2825496" cy="421630"/>
          </a:xfrm>
          <a:prstGeom prst="rect">
            <a:avLst/>
          </a:prstGeom>
          <a:noFill/>
          <a:ln/>
        </p:spPr>
        <p:txBody>
          <a:bodyPr wrap="square" lIns="0" tIns="0" rIns="0" bIns="0" rtlCol="0" anchor="t">
            <a:normAutofit/>
          </a:bodyPr>
          <a:lstStyle/>
          <a:p>
            <a:pPr algn="l" indent="0" marL="0">
              <a:lnSpc>
                <a:spcPts val="3120"/>
              </a:lnSpc>
              <a:buNone/>
            </a:pPr>
            <a:r>
              <a:rPr lang="en-US" sz="2600" b="1" dirty="0">
                <a:solidFill>
                  <a:srgbClr val="1B2A24"/>
                </a:solidFill>
                <a:latin typeface="Arial" pitchFamily="34" charset="0"/>
                <a:ea typeface="Arial" pitchFamily="34" charset="-122"/>
                <a:cs typeface="Arial" pitchFamily="34" charset="-120"/>
              </a:rPr>
              <a:t>Tiger</a:t>
            </a:r>
            <a:endParaRPr lang="en-US" sz="2600" dirty="0"/>
          </a:p>
        </p:txBody>
      </p:sp>
      <p:sp>
        <p:nvSpPr>
          <p:cNvPr id="6" name="Text 4"/>
          <p:cNvSpPr/>
          <p:nvPr/>
        </p:nvSpPr>
        <p:spPr>
          <a:xfrm>
            <a:off x="1117600" y="2606030"/>
            <a:ext cx="2825496" cy="1038771"/>
          </a:xfrm>
          <a:prstGeom prst="rect">
            <a:avLst/>
          </a:prstGeom>
          <a:noFill/>
          <a:ln/>
        </p:spPr>
        <p:txBody>
          <a:bodyPr wrap="square" lIns="0" tIns="0" rIns="0" bIns="0" rtlCol="0" anchor="t">
            <a:normAutofit/>
          </a:bodyPr>
          <a:lstStyle/>
          <a:p>
            <a:pPr algn="l" indent="0" marL="0">
              <a:lnSpc>
                <a:spcPts val="2660"/>
              </a:lnSpc>
              <a:buNone/>
            </a:pPr>
            <a:r>
              <a:rPr lang="en-US" sz="1900" dirty="0">
                <a:solidFill>
                  <a:srgbClr val="1B2A24"/>
                </a:solidFill>
                <a:latin typeface="Arial" pitchFamily="34" charset="0"/>
                <a:ea typeface="Arial" pitchFamily="34" charset="-122"/>
                <a:cs typeface="Arial" pitchFamily="34" charset="-120"/>
              </a:rPr>
              <a:t>Hunts alone. Damage 22–42. Chases after its first kill.</a:t>
            </a:r>
            <a:endParaRPr lang="en-US" sz="1900" dirty="0"/>
          </a:p>
        </p:txBody>
      </p:sp>
      <p:sp>
        <p:nvSpPr>
          <p:cNvPr id="7" name="Shape 5"/>
          <p:cNvSpPr/>
          <p:nvPr/>
        </p:nvSpPr>
        <p:spPr>
          <a:xfrm>
            <a:off x="4419600" y="1727200"/>
            <a:ext cx="3352800" cy="2197001"/>
          </a:xfrm>
          <a:prstGeom prst="roundRect">
            <a:avLst>
              <a:gd name="adj" fmla="val 6937"/>
            </a:avLst>
          </a:prstGeom>
          <a:solidFill>
            <a:srgbClr val="FFFFFF"/>
          </a:solidFill>
          <a:ln/>
        </p:spPr>
        <p:txBody>
          <a:bodyPr/>
          <a:p/>
        </p:txBody>
      </p:sp>
      <p:sp>
        <p:nvSpPr>
          <p:cNvPr id="8" name="Shape 6"/>
          <p:cNvSpPr/>
          <p:nvPr/>
        </p:nvSpPr>
        <p:spPr>
          <a:xfrm>
            <a:off x="4419600" y="1727200"/>
            <a:ext cx="3352800" cy="2197001"/>
          </a:xfrm>
          <a:custGeom>
            <a:avLst/>
            <a:gdLst/>
            <a:ahLst/>
            <a:cxnLst/>
            <a:rect l="l" t="t" r="r" b="b"/>
            <a:pathLst>
              <a:path w="3352800" h="2197001">
                <a:moveTo>
                  <a:pt x="0" y="152400"/>
                </a:moveTo>
                <a:lnTo>
                  <a:pt x="0" y="152400"/>
                </a:lnTo>
                <a:arcTo hR="152400" wR="152400" stAng="10800000" swAng="5400000"/>
                <a:lnTo>
                  <a:pt x="3200400" y="0"/>
                </a:lnTo>
                <a:arcTo hR="152400" wR="152400" stAng="16200000" swAng="5400000"/>
                <a:lnTo>
                  <a:pt x="3352800" y="152400"/>
                </a:lnTo>
                <a:arcTo hR="76200" wR="152400" stAng="0" swAng="-5400000"/>
                <a:lnTo>
                  <a:pt x="152400" y="76200"/>
                </a:lnTo>
                <a:arcTo hR="76200" wR="152400" stAng="16200000" swAng="-5400000"/>
                <a:close/>
              </a:path>
            </a:pathLst>
          </a:custGeom>
          <a:solidFill>
            <a:srgbClr val="F0883E"/>
          </a:solidFill>
          <a:ln/>
        </p:spPr>
        <p:txBody>
          <a:bodyPr/>
          <a:p/>
        </p:txBody>
      </p:sp>
      <p:sp>
        <p:nvSpPr>
          <p:cNvPr id="9" name="Text 7"/>
          <p:cNvSpPr/>
          <p:nvPr/>
        </p:nvSpPr>
        <p:spPr>
          <a:xfrm>
            <a:off x="4724400" y="2108200"/>
            <a:ext cx="2825496" cy="421630"/>
          </a:xfrm>
          <a:prstGeom prst="rect">
            <a:avLst/>
          </a:prstGeom>
          <a:noFill/>
          <a:ln/>
        </p:spPr>
        <p:txBody>
          <a:bodyPr wrap="square" lIns="0" tIns="0" rIns="0" bIns="0" rtlCol="0" anchor="t">
            <a:normAutofit/>
          </a:bodyPr>
          <a:lstStyle/>
          <a:p>
            <a:pPr algn="l" indent="0" marL="0">
              <a:lnSpc>
                <a:spcPts val="3120"/>
              </a:lnSpc>
              <a:buNone/>
            </a:pPr>
            <a:r>
              <a:rPr lang="en-US" sz="2600" b="1" dirty="0">
                <a:solidFill>
                  <a:srgbClr val="1B2A24"/>
                </a:solidFill>
                <a:latin typeface="Arial" pitchFamily="34" charset="0"/>
                <a:ea typeface="Arial" pitchFamily="34" charset="-122"/>
                <a:cs typeface="Arial" pitchFamily="34" charset="-120"/>
              </a:rPr>
              <a:t>Wolves</a:t>
            </a:r>
            <a:endParaRPr lang="en-US" sz="2600" dirty="0"/>
          </a:p>
        </p:txBody>
      </p:sp>
      <p:sp>
        <p:nvSpPr>
          <p:cNvPr id="10" name="Text 8"/>
          <p:cNvSpPr/>
          <p:nvPr/>
        </p:nvSpPr>
        <p:spPr>
          <a:xfrm>
            <a:off x="4724400" y="2606030"/>
            <a:ext cx="2825496" cy="1038771"/>
          </a:xfrm>
          <a:prstGeom prst="rect">
            <a:avLst/>
          </a:prstGeom>
          <a:noFill/>
          <a:ln/>
        </p:spPr>
        <p:txBody>
          <a:bodyPr wrap="square" lIns="0" tIns="0" rIns="0" bIns="0" rtlCol="0" anchor="t">
            <a:normAutofit/>
          </a:bodyPr>
          <a:lstStyle/>
          <a:p>
            <a:pPr algn="l" indent="0" marL="0">
              <a:lnSpc>
                <a:spcPts val="2660"/>
              </a:lnSpc>
              <a:buNone/>
            </a:pPr>
            <a:r>
              <a:rPr lang="en-US" sz="1900" dirty="0">
                <a:solidFill>
                  <a:srgbClr val="1B2A24"/>
                </a:solidFill>
                <a:latin typeface="Arial" pitchFamily="34" charset="0"/>
                <a:ea typeface="Arial" pitchFamily="34" charset="-122"/>
                <a:cs typeface="Arial" pitchFamily="34" charset="-120"/>
              </a:rPr>
              <a:t>Hunt as a pack. Each takes a different tile around one target.</a:t>
            </a:r>
            <a:endParaRPr lang="en-US" sz="1900" dirty="0"/>
          </a:p>
        </p:txBody>
      </p:sp>
      <p:sp>
        <p:nvSpPr>
          <p:cNvPr id="11" name="Shape 9"/>
          <p:cNvSpPr/>
          <p:nvPr/>
        </p:nvSpPr>
        <p:spPr>
          <a:xfrm>
            <a:off x="8026400" y="1727200"/>
            <a:ext cx="3352800" cy="2197001"/>
          </a:xfrm>
          <a:prstGeom prst="roundRect">
            <a:avLst>
              <a:gd name="adj" fmla="val 6937"/>
            </a:avLst>
          </a:prstGeom>
          <a:solidFill>
            <a:srgbClr val="FFFFFF"/>
          </a:solidFill>
          <a:ln/>
        </p:spPr>
        <p:txBody>
          <a:bodyPr/>
          <a:p/>
        </p:txBody>
      </p:sp>
      <p:sp>
        <p:nvSpPr>
          <p:cNvPr id="12" name="Shape 10"/>
          <p:cNvSpPr/>
          <p:nvPr/>
        </p:nvSpPr>
        <p:spPr>
          <a:xfrm>
            <a:off x="8026400" y="1727200"/>
            <a:ext cx="3352800" cy="2197001"/>
          </a:xfrm>
          <a:custGeom>
            <a:avLst/>
            <a:gdLst/>
            <a:ahLst/>
            <a:cxnLst/>
            <a:rect l="l" t="t" r="r" b="b"/>
            <a:pathLst>
              <a:path w="3352800" h="2197001">
                <a:moveTo>
                  <a:pt x="0" y="152400"/>
                </a:moveTo>
                <a:lnTo>
                  <a:pt x="0" y="152400"/>
                </a:lnTo>
                <a:arcTo hR="152400" wR="152400" stAng="10800000" swAng="5400000"/>
                <a:lnTo>
                  <a:pt x="3200400" y="0"/>
                </a:lnTo>
                <a:arcTo hR="152400" wR="152400" stAng="16200000" swAng="5400000"/>
                <a:lnTo>
                  <a:pt x="3352800" y="152400"/>
                </a:lnTo>
                <a:arcTo hR="76200" wR="152400" stAng="0" swAng="-5400000"/>
                <a:lnTo>
                  <a:pt x="152400" y="76200"/>
                </a:lnTo>
                <a:arcTo hR="76200" wR="152400" stAng="16200000" swAng="-5400000"/>
                <a:close/>
              </a:path>
            </a:pathLst>
          </a:custGeom>
          <a:solidFill>
            <a:srgbClr val="2F9C88"/>
          </a:solidFill>
          <a:ln/>
        </p:spPr>
        <p:txBody>
          <a:bodyPr/>
          <a:p/>
        </p:txBody>
      </p:sp>
      <p:sp>
        <p:nvSpPr>
          <p:cNvPr id="13" name="Text 11"/>
          <p:cNvSpPr/>
          <p:nvPr/>
        </p:nvSpPr>
        <p:spPr>
          <a:xfrm>
            <a:off x="8331200" y="2108200"/>
            <a:ext cx="2825496" cy="421630"/>
          </a:xfrm>
          <a:prstGeom prst="rect">
            <a:avLst/>
          </a:prstGeom>
          <a:noFill/>
          <a:ln/>
        </p:spPr>
        <p:txBody>
          <a:bodyPr wrap="square" lIns="0" tIns="0" rIns="0" bIns="0" rtlCol="0" anchor="t">
            <a:normAutofit/>
          </a:bodyPr>
          <a:lstStyle/>
          <a:p>
            <a:pPr algn="l" indent="0" marL="0">
              <a:lnSpc>
                <a:spcPts val="3120"/>
              </a:lnSpc>
              <a:buNone/>
            </a:pPr>
            <a:r>
              <a:rPr lang="en-US" sz="2600" b="1" dirty="0">
                <a:solidFill>
                  <a:srgbClr val="1B2A24"/>
                </a:solidFill>
                <a:latin typeface="Arial" pitchFamily="34" charset="0"/>
                <a:ea typeface="Arial" pitchFamily="34" charset="-122"/>
                <a:cs typeface="Arial" pitchFamily="34" charset="-120"/>
              </a:rPr>
              <a:t>Combat</a:t>
            </a:r>
            <a:endParaRPr lang="en-US" sz="2600" dirty="0"/>
          </a:p>
        </p:txBody>
      </p:sp>
      <p:sp>
        <p:nvSpPr>
          <p:cNvPr id="14" name="Text 12"/>
          <p:cNvSpPr/>
          <p:nvPr/>
        </p:nvSpPr>
        <p:spPr>
          <a:xfrm>
            <a:off x="8331200" y="2606030"/>
            <a:ext cx="2825496" cy="700980"/>
          </a:xfrm>
          <a:prstGeom prst="rect">
            <a:avLst/>
          </a:prstGeom>
          <a:noFill/>
          <a:ln/>
        </p:spPr>
        <p:txBody>
          <a:bodyPr wrap="square" lIns="0" tIns="0" rIns="0" bIns="0" rtlCol="0" anchor="t">
            <a:normAutofit/>
          </a:bodyPr>
          <a:lstStyle/>
          <a:p>
            <a:pPr algn="l" indent="0" marL="0">
              <a:lnSpc>
                <a:spcPts val="2660"/>
              </a:lnSpc>
              <a:buNone/>
            </a:pPr>
            <a:r>
              <a:rPr lang="en-US" sz="1900" dirty="0">
                <a:solidFill>
                  <a:srgbClr val="1B2A24"/>
                </a:solidFill>
                <a:latin typeface="Arial" pitchFamily="34" charset="0"/>
                <a:ea typeface="Arial" pitchFamily="34" charset="-122"/>
                <a:cs typeface="Arial" pitchFamily="34" charset="-120"/>
              </a:rPr>
              <a:t>First hit never kills. Survivors bolt away.</a:t>
            </a:r>
            <a:endParaRPr lang="en-US" sz="1900" dirty="0"/>
          </a:p>
        </p:txBody>
      </p:sp>
      <p:sp>
        <p:nvSpPr>
          <p:cNvPr id="15" name="Text 13"/>
          <p:cNvSpPr/>
          <p:nvPr/>
        </p:nvSpPr>
        <p:spPr>
          <a:xfrm>
            <a:off x="812800" y="4279801"/>
            <a:ext cx="10883392"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B2A24"/>
                </a:solidFill>
                <a:latin typeface="Arial" pitchFamily="34" charset="0"/>
                <a:ea typeface="Arial" pitchFamily="34" charset="-122"/>
                <a:cs typeface="Arial" pitchFamily="34" charset="-120"/>
              </a:rPr>
              <a:t>Targets: the weakest prey they can reach</a:t>
            </a:r>
            <a:endParaRPr lang="en-US" sz="2200" dirty="0"/>
          </a:p>
        </p:txBody>
      </p:sp>
      <p:sp>
        <p:nvSpPr>
          <p:cNvPr id="16" name="Text 1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971"/>
                </a:solidFill>
                <a:latin typeface="Arial" pitchFamily="34" charset="0"/>
                <a:ea typeface="Arial" pitchFamily="34" charset="-122"/>
                <a:cs typeface="Arial" pitchFamily="34" charset="-120"/>
              </a:rPr>
              <a:t>8 / 12</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261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842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F3EFE4"/>
                </a:solidFill>
                <a:latin typeface="Arial" pitchFamily="34" charset="0"/>
                <a:ea typeface="Arial" pitchFamily="34" charset="-122"/>
                <a:cs typeface="Arial" pitchFamily="34" charset="-120"/>
              </a:rPr>
              <a:t>Predator: Hunt Plan</a:t>
            </a:r>
            <a:endParaRPr lang="en-US" sz="4000" dirty="0"/>
          </a:p>
        </p:txBody>
      </p:sp>
      <p:sp>
        <p:nvSpPr>
          <p:cNvPr id="3" name="Shape 1"/>
          <p:cNvSpPr/>
          <p:nvPr/>
        </p:nvSpPr>
        <p:spPr>
          <a:xfrm>
            <a:off x="812800" y="1676400"/>
            <a:ext cx="3369717" cy="1683990"/>
          </a:xfrm>
          <a:prstGeom prst="roundRect">
            <a:avLst>
              <a:gd name="adj" fmla="val 9050"/>
            </a:avLst>
          </a:prstGeom>
          <a:solidFill>
            <a:srgbClr val="F0883E"/>
          </a:solidFill>
          <a:ln/>
        </p:spPr>
        <p:txBody>
          <a:bodyPr/>
          <a:p/>
        </p:txBody>
      </p:sp>
      <p:sp>
        <p:nvSpPr>
          <p:cNvPr id="4" name="Text 2"/>
          <p:cNvSpPr/>
          <p:nvPr/>
        </p:nvSpPr>
        <p:spPr>
          <a:xfrm>
            <a:off x="1092200" y="1955800"/>
            <a:ext cx="2895244" cy="421630"/>
          </a:xfrm>
          <a:prstGeom prst="rect">
            <a:avLst/>
          </a:prstGeom>
          <a:noFill/>
          <a:ln/>
        </p:spPr>
        <p:txBody>
          <a:bodyPr wrap="square" lIns="0" tIns="0" rIns="0" bIns="0" rtlCol="0" anchor="t">
            <a:normAutofit/>
          </a:bodyPr>
          <a:lstStyle/>
          <a:p>
            <a:pPr algn="l" indent="0" marL="0">
              <a:lnSpc>
                <a:spcPts val="3120"/>
              </a:lnSpc>
              <a:buNone/>
            </a:pPr>
            <a:r>
              <a:rPr lang="en-US" sz="2600" b="1" dirty="0">
                <a:solidFill>
                  <a:srgbClr val="12261F"/>
                </a:solidFill>
                <a:latin typeface="Arial" pitchFamily="34" charset="0"/>
                <a:ea typeface="Arial" pitchFamily="34" charset="-122"/>
                <a:cs typeface="Arial" pitchFamily="34" charset="-120"/>
              </a:rPr>
              <a:t>CHASE</a:t>
            </a:r>
            <a:endParaRPr lang="en-US" sz="2600" dirty="0"/>
          </a:p>
        </p:txBody>
      </p:sp>
      <p:sp>
        <p:nvSpPr>
          <p:cNvPr id="5" name="Text 3"/>
          <p:cNvSpPr/>
          <p:nvPr/>
        </p:nvSpPr>
        <p:spPr>
          <a:xfrm>
            <a:off x="1092200" y="2440930"/>
            <a:ext cx="2895244" cy="66546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2261F"/>
                </a:solidFill>
                <a:latin typeface="Arial" pitchFamily="34" charset="0"/>
                <a:ea typeface="Arial" pitchFamily="34" charset="-122"/>
                <a:cs typeface="Arial" pitchFamily="34" charset="-120"/>
              </a:rPr>
              <a:t>Run straight at the nearest prey</a:t>
            </a:r>
            <a:endParaRPr lang="en-US" sz="1800" dirty="0"/>
          </a:p>
        </p:txBody>
      </p:sp>
      <p:sp>
        <p:nvSpPr>
          <p:cNvPr id="6" name="Shape 4"/>
          <p:cNvSpPr/>
          <p:nvPr/>
        </p:nvSpPr>
        <p:spPr>
          <a:xfrm>
            <a:off x="4411117" y="1676400"/>
            <a:ext cx="3369766" cy="1683990"/>
          </a:xfrm>
          <a:prstGeom prst="roundRect">
            <a:avLst>
              <a:gd name="adj" fmla="val 9050"/>
            </a:avLst>
          </a:prstGeom>
          <a:solidFill>
            <a:srgbClr val="F0883E"/>
          </a:solidFill>
          <a:ln/>
        </p:spPr>
        <p:txBody>
          <a:bodyPr/>
          <a:p/>
        </p:txBody>
      </p:sp>
      <p:sp>
        <p:nvSpPr>
          <p:cNvPr id="7" name="Text 5"/>
          <p:cNvSpPr/>
          <p:nvPr/>
        </p:nvSpPr>
        <p:spPr>
          <a:xfrm>
            <a:off x="4690517" y="1955800"/>
            <a:ext cx="2895295" cy="421630"/>
          </a:xfrm>
          <a:prstGeom prst="rect">
            <a:avLst/>
          </a:prstGeom>
          <a:noFill/>
          <a:ln/>
        </p:spPr>
        <p:txBody>
          <a:bodyPr wrap="square" lIns="0" tIns="0" rIns="0" bIns="0" rtlCol="0" anchor="t">
            <a:normAutofit/>
          </a:bodyPr>
          <a:lstStyle/>
          <a:p>
            <a:pPr algn="l" indent="0" marL="0">
              <a:lnSpc>
                <a:spcPts val="3120"/>
              </a:lnSpc>
              <a:buNone/>
            </a:pPr>
            <a:r>
              <a:rPr lang="en-US" sz="2600" b="1" dirty="0">
                <a:solidFill>
                  <a:srgbClr val="12261F"/>
                </a:solidFill>
                <a:latin typeface="Arial" pitchFamily="34" charset="0"/>
                <a:ea typeface="Arial" pitchFamily="34" charset="-122"/>
                <a:cs typeface="Arial" pitchFamily="34" charset="-120"/>
              </a:rPr>
              <a:t>AMBUSH</a:t>
            </a:r>
            <a:endParaRPr lang="en-US" sz="2600" dirty="0"/>
          </a:p>
        </p:txBody>
      </p:sp>
      <p:sp>
        <p:nvSpPr>
          <p:cNvPr id="8" name="Text 6"/>
          <p:cNvSpPr/>
          <p:nvPr/>
        </p:nvSpPr>
        <p:spPr>
          <a:xfrm>
            <a:off x="4690517" y="2440930"/>
            <a:ext cx="2895295" cy="66546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2261F"/>
                </a:solidFill>
                <a:latin typeface="Arial" pitchFamily="34" charset="0"/>
                <a:ea typeface="Arial" pitchFamily="34" charset="-122"/>
                <a:cs typeface="Arial" pitchFamily="34" charset="-120"/>
              </a:rPr>
              <a:t>Go to the point between prey and its food</a:t>
            </a:r>
            <a:endParaRPr lang="en-US" sz="1800" dirty="0"/>
          </a:p>
        </p:txBody>
      </p:sp>
      <p:sp>
        <p:nvSpPr>
          <p:cNvPr id="9" name="Shape 7"/>
          <p:cNvSpPr/>
          <p:nvPr/>
        </p:nvSpPr>
        <p:spPr>
          <a:xfrm>
            <a:off x="8009483" y="1676400"/>
            <a:ext cx="3369717" cy="1683990"/>
          </a:xfrm>
          <a:prstGeom prst="roundRect">
            <a:avLst>
              <a:gd name="adj" fmla="val 9050"/>
            </a:avLst>
          </a:prstGeom>
          <a:solidFill>
            <a:srgbClr val="F0883E"/>
          </a:solidFill>
          <a:ln/>
        </p:spPr>
        <p:txBody>
          <a:bodyPr/>
          <a:p/>
        </p:txBody>
      </p:sp>
      <p:sp>
        <p:nvSpPr>
          <p:cNvPr id="10" name="Text 8"/>
          <p:cNvSpPr/>
          <p:nvPr/>
        </p:nvSpPr>
        <p:spPr>
          <a:xfrm>
            <a:off x="8288883" y="1955800"/>
            <a:ext cx="2895244" cy="421630"/>
          </a:xfrm>
          <a:prstGeom prst="rect">
            <a:avLst/>
          </a:prstGeom>
          <a:noFill/>
          <a:ln/>
        </p:spPr>
        <p:txBody>
          <a:bodyPr wrap="square" lIns="0" tIns="0" rIns="0" bIns="0" rtlCol="0" anchor="t">
            <a:normAutofit/>
          </a:bodyPr>
          <a:lstStyle/>
          <a:p>
            <a:pPr algn="l" indent="0" marL="0">
              <a:lnSpc>
                <a:spcPts val="3120"/>
              </a:lnSpc>
              <a:buNone/>
            </a:pPr>
            <a:r>
              <a:rPr lang="en-US" sz="2600" b="1" dirty="0">
                <a:solidFill>
                  <a:srgbClr val="12261F"/>
                </a:solidFill>
                <a:latin typeface="Arial" pitchFamily="34" charset="0"/>
                <a:ea typeface="Arial" pitchFamily="34" charset="-122"/>
                <a:cs typeface="Arial" pitchFamily="34" charset="-120"/>
              </a:rPr>
              <a:t>CAMP</a:t>
            </a:r>
            <a:endParaRPr lang="en-US" sz="2600" dirty="0"/>
          </a:p>
        </p:txBody>
      </p:sp>
      <p:sp>
        <p:nvSpPr>
          <p:cNvPr id="11" name="Text 9"/>
          <p:cNvSpPr/>
          <p:nvPr/>
        </p:nvSpPr>
        <p:spPr>
          <a:xfrm>
            <a:off x="8288883" y="2440930"/>
            <a:ext cx="2895244" cy="66546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2261F"/>
                </a:solidFill>
                <a:latin typeface="Arial" pitchFamily="34" charset="0"/>
                <a:ea typeface="Arial" pitchFamily="34" charset="-122"/>
                <a:cs typeface="Arial" pitchFamily="34" charset="-120"/>
              </a:rPr>
              <a:t>Take the far side of the river, then close in</a:t>
            </a:r>
            <a:endParaRPr lang="en-US" sz="1800" dirty="0"/>
          </a:p>
        </p:txBody>
      </p:sp>
      <p:sp>
        <p:nvSpPr>
          <p:cNvPr id="12" name="Text 10"/>
          <p:cNvSpPr/>
          <p:nvPr/>
        </p:nvSpPr>
        <p:spPr>
          <a:xfrm>
            <a:off x="812800" y="3665190"/>
            <a:ext cx="10566400" cy="1219200"/>
          </a:xfrm>
          <a:prstGeom prst="roundRect">
            <a:avLst>
              <a:gd name="adj" fmla="val 12500"/>
            </a:avLst>
          </a:prstGeom>
          <a:solidFill>
            <a:srgbClr val="1C3A30"/>
          </a:solidFill>
          <a:ln/>
        </p:spPr>
        <p:txBody>
          <a:bodyPr wrap="square" lIns="361764" tIns="209364" rIns="0" bIns="183964" rtlCol="0" anchor="t">
            <a:normAutofit/>
          </a:bodyPr>
          <a:lstStyle/>
          <a:p>
            <a:pPr algn="l" indent="0" marL="0">
              <a:lnSpc>
                <a:spcPts val="2800"/>
              </a:lnSpc>
              <a:buNone/>
            </a:pPr>
            <a:r>
              <a:rPr lang="en-US" sz="2000" b="1" dirty="0">
                <a:solidFill>
                  <a:srgbClr val="5FC4B0"/>
                </a:solidFill>
                <a:latin typeface="Arial" pitchFamily="34" charset="0"/>
                <a:ea typeface="Arial" pitchFamily="34" charset="-122"/>
                <a:cs typeface="Arial" pitchFamily="34" charset="-120"/>
              </a:rPr>
              <a:t>Tactical brain (default):</a:t>
            </a:r>
            <a:r>
              <a:rPr lang="en-US" sz="2000" dirty="0">
                <a:solidFill>
                  <a:srgbClr val="F3EFE4"/>
                </a:solidFill>
                <a:latin typeface="Arial" pitchFamily="34" charset="0"/>
                <a:ea typeface="Arial" pitchFamily="34" charset="-122"/>
                <a:cs typeface="Arial" pitchFamily="34" charset="-120"/>
              </a:rPr>
              <a:t> hit the weakest prey in reach, otherwise take the shortest route</a:t>
            </a:r>
            <a:endParaRPr lang="en-US" sz="2000" dirty="0"/>
          </a:p>
        </p:txBody>
      </p:sp>
      <p:sp>
        <p:nvSpPr>
          <p:cNvPr id="13" name="Shape 11"/>
          <p:cNvSpPr/>
          <p:nvPr/>
        </p:nvSpPr>
        <p:spPr>
          <a:xfrm>
            <a:off x="812800" y="3665190"/>
            <a:ext cx="10566400" cy="1219200"/>
          </a:xfrm>
          <a:custGeom>
            <a:avLst/>
            <a:gdLst/>
            <a:ahLst/>
            <a:cxnLst/>
            <a:rect l="l" t="t" r="r" b="b"/>
            <a:pathLst>
              <a:path w="10566400" h="1219200">
                <a:moveTo>
                  <a:pt x="152400" y="1219200"/>
                </a:moveTo>
                <a:lnTo>
                  <a:pt x="152400" y="1219200"/>
                </a:lnTo>
                <a:arcTo hR="152400" wR="152400" stAng="5400000" swAng="5400000"/>
                <a:lnTo>
                  <a:pt x="0" y="152400"/>
                </a:lnTo>
                <a:arcTo hR="152400" wR="152400" stAng="10800000" swAng="5400000"/>
                <a:lnTo>
                  <a:pt x="152400" y="0"/>
                </a:lnTo>
                <a:arcTo hR="152400" wR="50800" stAng="16200000" swAng="-5400000"/>
                <a:lnTo>
                  <a:pt x="101600" y="1066800"/>
                </a:lnTo>
                <a:arcTo hR="152400" wR="50800" stAng="10800000" swAng="-5400000"/>
                <a:close/>
              </a:path>
            </a:pathLst>
          </a:custGeom>
          <a:solidFill>
            <a:srgbClr val="5FC4B0"/>
          </a:solidFill>
          <a:ln/>
        </p:spPr>
        <p:txBody>
          <a:bodyPr/>
          <a:p/>
        </p:txBody>
      </p:sp>
      <p:sp>
        <p:nvSpPr>
          <p:cNvPr id="14" name="Text 1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FB0A6"/>
                </a:solidFill>
                <a:latin typeface="Arial" pitchFamily="34" charset="0"/>
                <a:ea typeface="Arial" pitchFamily="34" charset="-122"/>
                <a:cs typeface="Arial" pitchFamily="34" charset="-120"/>
              </a:rPr>
              <a:t>9 / 12</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EFE4"/>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842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1B2A24"/>
                </a:solidFill>
                <a:latin typeface="Arial" pitchFamily="34" charset="0"/>
                <a:ea typeface="Arial" pitchFamily="34" charset="-122"/>
                <a:cs typeface="Arial" pitchFamily="34" charset="-120"/>
              </a:rPr>
              <a:t>Predator: Wolf Pack</a:t>
            </a:r>
            <a:endParaRPr lang="en-US" sz="4000" dirty="0"/>
          </a:p>
        </p:txBody>
      </p:sp>
      <p:pic>
        <p:nvPicPr>
          <p:cNvPr id="3" name="Image 0" descr="Schematic: two wolves approach one deer from two different tiles">    </p:cNvPr>
          <p:cNvPicPr>
            <a:picLocks noChangeAspect="1"/>
          </p:cNvPicPr>
          <p:nvPr/>
        </p:nvPicPr>
        <p:blipFill>
          <a:blip r:embed="rId1"/>
          <a:srcRect l="0" r="0" t="0" b="0"/>
          <a:stretch/>
        </p:blipFill>
        <p:spPr>
          <a:xfrm>
            <a:off x="812800" y="1676400"/>
            <a:ext cx="3810000" cy="3810000"/>
          </a:xfrm>
          <a:prstGeom prst="rect">
            <a:avLst/>
          </a:prstGeom>
        </p:spPr>
      </p:pic>
      <p:sp>
        <p:nvSpPr>
          <p:cNvPr id="4" name="Text 1"/>
          <p:cNvSpPr/>
          <p:nvPr/>
        </p:nvSpPr>
        <p:spPr>
          <a:xfrm>
            <a:off x="5130800" y="2474020"/>
            <a:ext cx="6435852"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D96A1F"/>
                </a:solidFill>
                <a:latin typeface="Arial" pitchFamily="34" charset="0"/>
                <a:ea typeface="Arial" pitchFamily="34" charset="-122"/>
                <a:cs typeface="Arial" pitchFamily="34" charset="-120"/>
              </a:rPr>
              <a:t>1</a:t>
            </a:r>
            <a:r>
              <a:rPr lang="en-US" sz="2200" dirty="0">
                <a:solidFill>
                  <a:srgbClr val="1B2A24"/>
                </a:solidFill>
                <a:latin typeface="Arial" pitchFamily="34" charset="0"/>
                <a:ea typeface="Arial" pitchFamily="34" charset="-122"/>
                <a:cs typeface="Arial" pitchFamily="34" charset="-120"/>
              </a:rPr>
              <a:t> Pick the prey the pack reaches cheapest</a:t>
            </a:r>
            <a:endParaRPr lang="en-US" sz="2200" dirty="0"/>
          </a:p>
        </p:txBody>
      </p:sp>
      <p:sp>
        <p:nvSpPr>
          <p:cNvPr id="5" name="Text 2"/>
          <p:cNvSpPr/>
          <p:nvPr/>
        </p:nvSpPr>
        <p:spPr>
          <a:xfrm>
            <a:off x="5130800" y="3093740"/>
            <a:ext cx="6435852"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D96A1F"/>
                </a:solidFill>
                <a:latin typeface="Arial" pitchFamily="34" charset="0"/>
                <a:ea typeface="Arial" pitchFamily="34" charset="-122"/>
                <a:cs typeface="Arial" pitchFamily="34" charset="-120"/>
              </a:rPr>
              <a:t>2</a:t>
            </a:r>
            <a:r>
              <a:rPr lang="en-US" sz="2200" dirty="0">
                <a:solidFill>
                  <a:srgbClr val="1B2A24"/>
                </a:solidFill>
                <a:latin typeface="Arial" pitchFamily="34" charset="0"/>
                <a:ea typeface="Arial" pitchFamily="34" charset="-122"/>
                <a:cs typeface="Arial" pitchFamily="34" charset="-120"/>
              </a:rPr>
              <a:t> Give each wolf its own tile beside it</a:t>
            </a:r>
            <a:endParaRPr lang="en-US" sz="2200" dirty="0"/>
          </a:p>
        </p:txBody>
      </p:sp>
      <p:sp>
        <p:nvSpPr>
          <p:cNvPr id="6" name="Text 3"/>
          <p:cNvSpPr/>
          <p:nvPr/>
        </p:nvSpPr>
        <p:spPr>
          <a:xfrm>
            <a:off x="5130800" y="3713460"/>
            <a:ext cx="6435852"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D96A1F"/>
                </a:solidFill>
                <a:latin typeface="Arial" pitchFamily="34" charset="0"/>
                <a:ea typeface="Arial" pitchFamily="34" charset="-122"/>
                <a:cs typeface="Arial" pitchFamily="34" charset="-120"/>
              </a:rPr>
              <a:t>3</a:t>
            </a:r>
            <a:r>
              <a:rPr lang="en-US" sz="2200" dirty="0">
                <a:solidFill>
                  <a:srgbClr val="1B2A24"/>
                </a:solidFill>
                <a:latin typeface="Arial" pitchFamily="34" charset="0"/>
                <a:ea typeface="Arial" pitchFamily="34" charset="-122"/>
                <a:cs typeface="Arial" pitchFamily="34" charset="-120"/>
              </a:rPr>
              <a:t> Prefer approaches far apart</a:t>
            </a:r>
            <a:endParaRPr lang="en-US" sz="2200" dirty="0"/>
          </a:p>
        </p:txBody>
      </p:sp>
      <p:sp>
        <p:nvSpPr>
          <p:cNvPr id="7" name="Text 4"/>
          <p:cNvSpPr/>
          <p:nvPr/>
        </p:nvSpPr>
        <p:spPr>
          <a:xfrm>
            <a:off x="5130800" y="4333180"/>
            <a:ext cx="643585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F9C88"/>
                </a:solidFill>
                <a:latin typeface="Arial" pitchFamily="34" charset="0"/>
                <a:ea typeface="Arial" pitchFamily="34" charset="-122"/>
                <a:cs typeface="Arial" pitchFamily="34" charset="-120"/>
              </a:rPr>
              <a:t>Surround, do not queue</a:t>
            </a:r>
            <a:endParaRPr lang="en-US" sz="2000" dirty="0"/>
          </a:p>
        </p:txBody>
      </p:sp>
      <p:sp>
        <p:nvSpPr>
          <p:cNvPr id="8" name="Text 5"/>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971"/>
                </a:solidFill>
                <a:latin typeface="Arial" pitchFamily="34" charset="0"/>
                <a:ea typeface="Arial" pitchFamily="34" charset="-122"/>
                <a:cs typeface="Arial" pitchFamily="34" charset="-120"/>
              </a:rPr>
              <a:t>Schematic of the team-hunt rule in the game code</a:t>
            </a:r>
            <a:endParaRPr lang="en-US" sz="1200" dirty="0"/>
          </a:p>
        </p:txBody>
      </p:sp>
      <p:sp>
        <p:nvSpPr>
          <p:cNvPr id="9" name="Text 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971"/>
                </a:solidFill>
                <a:latin typeface="Arial" pitchFamily="34" charset="0"/>
                <a:ea typeface="Arial" pitchFamily="34" charset="-122"/>
                <a:cs typeface="Arial" pitchFamily="34" charset="-120"/>
              </a:rPr>
              <a:t>10 / 12</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261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842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F3EFE4"/>
                </a:solidFill>
                <a:latin typeface="Arial" pitchFamily="34" charset="0"/>
                <a:ea typeface="Arial" pitchFamily="34" charset="-122"/>
                <a:cs typeface="Arial" pitchFamily="34" charset="-120"/>
              </a:rPr>
              <a:t>Prey and Predators Side by Side</a:t>
            </a:r>
            <a:endParaRPr lang="en-US" sz="4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689100"/>
          <a:ext cx="10553700" cy="3964732"/>
        </p:xfrm>
        <a:graphic>
          <a:graphicData uri="http://schemas.openxmlformats.org/drawingml/2006/table">
            <a:tbl>
              <a:tblPr/>
              <a:tblGrid>
                <a:gridCol w="3517900"/>
                <a:gridCol w="3517900"/>
                <a:gridCol w="3517900"/>
              </a:tblGrid>
              <a:tr h="604490">
                <a:tc>
                  <a:txBody>
                    <a:bodyPr/>
                    <a:lstStyle/>
                    <a:p>
                      <a:pPr indent="0" marL="0">
                        <a:lnSpc>
                          <a:spcPts val="2660"/>
                        </a:lnSpc>
                        <a:buNone/>
                      </a:pPr>
                      <a:endParaRPr lang="en-US" sz="1900" dirty="0">
                        <a:latin typeface="Arial" charset="0"/>
                        <a:ea typeface="Arial" charset="0"/>
                        <a:cs typeface="Arial" charset="0"/>
                      </a:endParaRPr>
                    </a:p>
                  </a:txBody>
                  <a:tcPr marL="152400" marR="152400" marT="127000" marB="127000" anchor="t">
                    <a:lnL w="12700" cap="flat" cmpd="sng" algn="ctr">
                      <a:solidFill>
                        <a:srgbClr val="45544E"/>
                      </a:solidFill>
                      <a:prstDash val="solid"/>
                      <a:round/>
                      <a:headEnd type="none" w="med" len="med"/>
                      <a:tailEnd type="none" w="med" len="med"/>
                    </a:lnL>
                    <a:lnR w="12700" cap="flat" cmpd="sng" algn="ctr">
                      <a:solidFill>
                        <a:srgbClr val="54625B"/>
                      </a:solidFill>
                      <a:prstDash val="solid"/>
                      <a:round/>
                      <a:headEnd type="none" w="med" len="med"/>
                      <a:tailEnd type="none" w="med" len="med"/>
                    </a:lnR>
                    <a:lnT w="12700" cap="flat" cmpd="sng" algn="ctr">
                      <a:solidFill>
                        <a:srgbClr val="45544E"/>
                      </a:solidFill>
                      <a:prstDash val="solid"/>
                      <a:round/>
                      <a:headEnd type="none" w="med" len="med"/>
                      <a:tailEnd type="none" w="med" len="med"/>
                    </a:lnT>
                    <a:lnB w="12700" cap="flat" cmpd="sng" algn="ctr">
                      <a:solidFill>
                        <a:srgbClr val="54625B"/>
                      </a:solidFill>
                      <a:prstDash val="solid"/>
                      <a:round/>
                      <a:headEnd type="none" w="med" len="med"/>
                      <a:tailEnd type="none" w="med" len="med"/>
                    </a:lnB>
                    <a:solidFill>
                      <a:srgbClr val="253730"/>
                    </a:solidFill>
                  </a:tcPr>
                </a:tc>
                <a:tc>
                  <a:txBody>
                    <a:bodyPr/>
                    <a:lstStyle/>
                    <a:p>
                      <a:pPr indent="0" marL="0">
                        <a:lnSpc>
                          <a:spcPts val="2660"/>
                        </a:lnSpc>
                        <a:buNone/>
                      </a:pPr>
                      <a:r>
                        <a:rPr lang="en-US" sz="1900" b="1" dirty="0">
                          <a:solidFill>
                            <a:srgbClr val="5FC4B0"/>
                          </a:solidFill>
                          <a:latin typeface="Arial" pitchFamily="34" charset="0"/>
                          <a:ea typeface="Arial" pitchFamily="34" charset="-122"/>
                          <a:cs typeface="Arial" pitchFamily="34" charset="-120"/>
                        </a:rPr>
                        <a:t>Prey</a:t>
                      </a:r>
                      <a:endParaRPr lang="en-US" sz="1900" dirty="0">
                        <a:latin typeface="Arial" charset="0"/>
                        <a:ea typeface="Arial" charset="0"/>
                        <a:cs typeface="Arial" charset="0"/>
                      </a:endParaRPr>
                    </a:p>
                  </a:txBody>
                  <a:tcPr marL="152400" marR="152400" marT="127000" marB="127000" anchor="t">
                    <a:lnL w="12700" cap="flat" cmpd="sng" algn="ctr">
                      <a:solidFill>
                        <a:srgbClr val="54625B"/>
                      </a:solidFill>
                      <a:prstDash val="solid"/>
                      <a:round/>
                      <a:headEnd type="none" w="med" len="med"/>
                      <a:tailEnd type="none" w="med" len="med"/>
                    </a:lnL>
                    <a:lnR w="12700" cap="flat" cmpd="sng" algn="ctr">
                      <a:solidFill>
                        <a:srgbClr val="54625B"/>
                      </a:solidFill>
                      <a:prstDash val="solid"/>
                      <a:round/>
                      <a:headEnd type="none" w="med" len="med"/>
                      <a:tailEnd type="none" w="med" len="med"/>
                    </a:lnR>
                    <a:lnT w="12700" cap="flat" cmpd="sng" algn="ctr">
                      <a:solidFill>
                        <a:srgbClr val="45544E"/>
                      </a:solidFill>
                      <a:prstDash val="solid"/>
                      <a:round/>
                      <a:headEnd type="none" w="med" len="med"/>
                      <a:tailEnd type="none" w="med" len="med"/>
                    </a:lnT>
                    <a:lnB w="12700" cap="flat" cmpd="sng" algn="ctr">
                      <a:solidFill>
                        <a:srgbClr val="54625B"/>
                      </a:solidFill>
                      <a:prstDash val="solid"/>
                      <a:round/>
                      <a:headEnd type="none" w="med" len="med"/>
                      <a:tailEnd type="none" w="med" len="med"/>
                    </a:lnB>
                    <a:solidFill>
                      <a:srgbClr val="253730"/>
                    </a:solidFill>
                  </a:tcPr>
                </a:tc>
                <a:tc>
                  <a:txBody>
                    <a:bodyPr/>
                    <a:lstStyle/>
                    <a:p>
                      <a:pPr indent="0" marL="0">
                        <a:lnSpc>
                          <a:spcPts val="2660"/>
                        </a:lnSpc>
                        <a:buNone/>
                      </a:pPr>
                      <a:r>
                        <a:rPr lang="en-US" sz="1900" b="1" dirty="0">
                          <a:solidFill>
                            <a:srgbClr val="F0883E"/>
                          </a:solidFill>
                          <a:latin typeface="Arial" pitchFamily="34" charset="0"/>
                          <a:ea typeface="Arial" pitchFamily="34" charset="-122"/>
                          <a:cs typeface="Arial" pitchFamily="34" charset="-120"/>
                        </a:rPr>
                        <a:t>Predators</a:t>
                      </a:r>
                      <a:endParaRPr lang="en-US" sz="1900" dirty="0">
                        <a:latin typeface="Arial" charset="0"/>
                        <a:ea typeface="Arial" charset="0"/>
                        <a:cs typeface="Arial" charset="0"/>
                      </a:endParaRPr>
                    </a:p>
                  </a:txBody>
                  <a:tcPr marL="152400" marR="152400" marT="127000" marB="127000" anchor="t">
                    <a:lnL w="12700" cap="flat" cmpd="sng" algn="ctr">
                      <a:solidFill>
                        <a:srgbClr val="54625B"/>
                      </a:solidFill>
                      <a:prstDash val="solid"/>
                      <a:round/>
                      <a:headEnd type="none" w="med" len="med"/>
                      <a:tailEnd type="none" w="med" len="med"/>
                    </a:lnL>
                    <a:lnR w="12700" cap="flat" cmpd="sng" algn="ctr">
                      <a:solidFill>
                        <a:srgbClr val="54625B"/>
                      </a:solidFill>
                      <a:prstDash val="solid"/>
                      <a:round/>
                      <a:headEnd type="none" w="med" len="med"/>
                      <a:tailEnd type="none" w="med" len="med"/>
                    </a:lnR>
                    <a:lnT w="12700" cap="flat" cmpd="sng" algn="ctr">
                      <a:solidFill>
                        <a:srgbClr val="45544E"/>
                      </a:solidFill>
                      <a:prstDash val="solid"/>
                      <a:round/>
                      <a:headEnd type="none" w="med" len="med"/>
                      <a:tailEnd type="none" w="med" len="med"/>
                    </a:lnT>
                    <a:lnB w="12700" cap="flat" cmpd="sng" algn="ctr">
                      <a:solidFill>
                        <a:srgbClr val="54625B"/>
                      </a:solidFill>
                      <a:prstDash val="solid"/>
                      <a:round/>
                      <a:headEnd type="none" w="med" len="med"/>
                      <a:tailEnd type="none" w="med" len="med"/>
                    </a:lnB>
                    <a:solidFill>
                      <a:srgbClr val="253730"/>
                    </a:solidFill>
                  </a:tcPr>
                </a:tc>
              </a:tr>
              <a:tr h="604490">
                <a:tc>
                  <a:txBody>
                    <a:bodyPr/>
                    <a:lstStyle/>
                    <a:p>
                      <a:pPr indent="0" marL="0">
                        <a:lnSpc>
                          <a:spcPts val="2660"/>
                        </a:lnSpc>
                        <a:buNone/>
                      </a:pPr>
                      <a:r>
                        <a:rPr lang="en-US" sz="1900" dirty="0">
                          <a:solidFill>
                            <a:srgbClr val="9FB0A6"/>
                          </a:solidFill>
                          <a:latin typeface="Arial" pitchFamily="34" charset="0"/>
                          <a:ea typeface="Arial" pitchFamily="34" charset="-122"/>
                          <a:cs typeface="Arial" pitchFamily="34" charset="-120"/>
                        </a:rPr>
                        <a:t>Goal</a:t>
                      </a:r>
                      <a:endParaRPr lang="en-US" sz="1900" dirty="0">
                        <a:latin typeface="Arial" charset="0"/>
                        <a:ea typeface="Arial" charset="0"/>
                        <a:cs typeface="Arial" charset="0"/>
                      </a:endParaRPr>
                    </a:p>
                  </a:txBody>
                  <a:tcPr marL="152400" marR="152400" marT="127000" marB="127000" anchor="t">
                    <a:lnL w="12700" cap="flat" cmpd="sng" algn="ctr">
                      <a:solidFill>
                        <a:srgbClr val="45544E"/>
                      </a:solidFill>
                      <a:prstDash val="solid"/>
                      <a:round/>
                      <a:headEnd type="none" w="med" len="med"/>
                      <a:tailEnd type="none" w="med" len="med"/>
                    </a:lnL>
                    <a:lnR w="12700" cap="flat" cmpd="sng" algn="ctr">
                      <a:solidFill>
                        <a:srgbClr val="45544E"/>
                      </a:solidFill>
                      <a:prstDash val="solid"/>
                      <a:round/>
                      <a:headEnd type="none" w="med" len="med"/>
                      <a:tailEnd type="none" w="med" len="med"/>
                    </a:lnR>
                    <a:lnT w="12700" cap="flat" cmpd="sng" algn="ctr">
                      <a:solidFill>
                        <a:srgbClr val="54625B"/>
                      </a:solidFill>
                      <a:prstDash val="solid"/>
                      <a:round/>
                      <a:headEnd type="none" w="med" len="med"/>
                      <a:tailEnd type="none" w="med" len="med"/>
                    </a:lnT>
                    <a:lnB w="12700" cap="flat" cmpd="sng" algn="ctr">
                      <a:solidFill>
                        <a:srgbClr val="45544E"/>
                      </a:solidFill>
                      <a:prstDash val="solid"/>
                      <a:round/>
                      <a:headEnd type="none" w="med" len="med"/>
                      <a:tailEnd type="none" w="med" len="med"/>
                    </a:lnB>
                  </a:tcPr>
                </a:tc>
                <a:tc>
                  <a:txBody>
                    <a:bodyPr/>
                    <a:lstStyle/>
                    <a:p>
                      <a:pPr indent="0" marL="0">
                        <a:lnSpc>
                          <a:spcPts val="2660"/>
                        </a:lnSpc>
                        <a:buNone/>
                      </a:pPr>
                      <a:r>
                        <a:rPr lang="en-US" sz="1900" dirty="0">
                          <a:solidFill>
                            <a:srgbClr val="F3EFE4"/>
                          </a:solidFill>
                          <a:latin typeface="Arial" pitchFamily="34" charset="0"/>
                          <a:ea typeface="Arial" pitchFamily="34" charset="-122"/>
                          <a:cs typeface="Arial" pitchFamily="34" charset="-120"/>
                        </a:rPr>
                        <a:t>Eat 65% of the food</a:t>
                      </a:r>
                      <a:endParaRPr lang="en-US" sz="1900" dirty="0">
                        <a:latin typeface="Arial" charset="0"/>
                        <a:ea typeface="Arial" charset="0"/>
                        <a:cs typeface="Arial" charset="0"/>
                      </a:endParaRPr>
                    </a:p>
                  </a:txBody>
                  <a:tcPr marL="152400" marR="152400" marT="127000" marB="127000" anchor="t">
                    <a:lnL w="12700" cap="flat" cmpd="sng" algn="ctr">
                      <a:solidFill>
                        <a:srgbClr val="45544E"/>
                      </a:solidFill>
                      <a:prstDash val="solid"/>
                      <a:round/>
                      <a:headEnd type="none" w="med" len="med"/>
                      <a:tailEnd type="none" w="med" len="med"/>
                    </a:lnL>
                    <a:lnR w="12700" cap="flat" cmpd="sng" algn="ctr">
                      <a:solidFill>
                        <a:srgbClr val="45544E"/>
                      </a:solidFill>
                      <a:prstDash val="solid"/>
                      <a:round/>
                      <a:headEnd type="none" w="med" len="med"/>
                      <a:tailEnd type="none" w="med" len="med"/>
                    </a:lnR>
                    <a:lnT w="12700" cap="flat" cmpd="sng" algn="ctr">
                      <a:solidFill>
                        <a:srgbClr val="54625B"/>
                      </a:solidFill>
                      <a:prstDash val="solid"/>
                      <a:round/>
                      <a:headEnd type="none" w="med" len="med"/>
                      <a:tailEnd type="none" w="med" len="med"/>
                    </a:lnT>
                    <a:lnB w="12700" cap="flat" cmpd="sng" algn="ctr">
                      <a:solidFill>
                        <a:srgbClr val="45544E"/>
                      </a:solidFill>
                      <a:prstDash val="solid"/>
                      <a:round/>
                      <a:headEnd type="none" w="med" len="med"/>
                      <a:tailEnd type="none" w="med" len="med"/>
                    </a:lnB>
                  </a:tcPr>
                </a:tc>
                <a:tc>
                  <a:txBody>
                    <a:bodyPr/>
                    <a:lstStyle/>
                    <a:p>
                      <a:pPr indent="0" marL="0">
                        <a:lnSpc>
                          <a:spcPts val="2660"/>
                        </a:lnSpc>
                        <a:buNone/>
                      </a:pPr>
                      <a:r>
                        <a:rPr lang="en-US" sz="1900" dirty="0">
                          <a:solidFill>
                            <a:srgbClr val="F3EFE4"/>
                          </a:solidFill>
                          <a:latin typeface="Arial" pitchFamily="34" charset="0"/>
                          <a:ea typeface="Arial" pitchFamily="34" charset="-122"/>
                          <a:cs typeface="Arial" pitchFamily="34" charset="-120"/>
                        </a:rPr>
                        <a:t>Eliminate 70% of the prey</a:t>
                      </a:r>
                      <a:endParaRPr lang="en-US" sz="1900" dirty="0">
                        <a:latin typeface="Arial" charset="0"/>
                        <a:ea typeface="Arial" charset="0"/>
                        <a:cs typeface="Arial" charset="0"/>
                      </a:endParaRPr>
                    </a:p>
                  </a:txBody>
                  <a:tcPr marL="152400" marR="152400" marT="127000" marB="127000" anchor="t">
                    <a:lnL w="12700" cap="flat" cmpd="sng" algn="ctr">
                      <a:solidFill>
                        <a:srgbClr val="45544E"/>
                      </a:solidFill>
                      <a:prstDash val="solid"/>
                      <a:round/>
                      <a:headEnd type="none" w="med" len="med"/>
                      <a:tailEnd type="none" w="med" len="med"/>
                    </a:lnL>
                    <a:lnR w="12700" cap="flat" cmpd="sng" algn="ctr">
                      <a:solidFill>
                        <a:srgbClr val="45544E"/>
                      </a:solidFill>
                      <a:prstDash val="solid"/>
                      <a:round/>
                      <a:headEnd type="none" w="med" len="med"/>
                      <a:tailEnd type="none" w="med" len="med"/>
                    </a:lnR>
                    <a:lnT w="12700" cap="flat" cmpd="sng" algn="ctr">
                      <a:solidFill>
                        <a:srgbClr val="54625B"/>
                      </a:solidFill>
                      <a:prstDash val="solid"/>
                      <a:round/>
                      <a:headEnd type="none" w="med" len="med"/>
                      <a:tailEnd type="none" w="med" len="med"/>
                    </a:lnT>
                    <a:lnB w="12700" cap="flat" cmpd="sng" algn="ctr">
                      <a:solidFill>
                        <a:srgbClr val="45544E"/>
                      </a:solidFill>
                      <a:prstDash val="solid"/>
                      <a:round/>
                      <a:headEnd type="none" w="med" len="med"/>
                      <a:tailEnd type="none" w="med" len="med"/>
                    </a:lnB>
                  </a:tcPr>
                </a:tc>
              </a:tr>
              <a:tr h="604490">
                <a:tc>
                  <a:txBody>
                    <a:bodyPr/>
                    <a:lstStyle/>
                    <a:p>
                      <a:pPr indent="0" marL="0">
                        <a:lnSpc>
                          <a:spcPts val="2660"/>
                        </a:lnSpc>
                        <a:buNone/>
                      </a:pPr>
                      <a:r>
                        <a:rPr lang="en-US" sz="1900" dirty="0">
                          <a:solidFill>
                            <a:srgbClr val="9FB0A6"/>
                          </a:solidFill>
                          <a:latin typeface="Arial" pitchFamily="34" charset="0"/>
                          <a:ea typeface="Arial" pitchFamily="34" charset="-122"/>
                          <a:cs typeface="Arial" pitchFamily="34" charset="-120"/>
                        </a:rPr>
                        <a:t>Group</a:t>
                      </a:r>
                      <a:endParaRPr lang="en-US" sz="1900" dirty="0">
                        <a:latin typeface="Arial" charset="0"/>
                        <a:ea typeface="Arial" charset="0"/>
                        <a:cs typeface="Arial" charset="0"/>
                      </a:endParaRPr>
                    </a:p>
                  </a:txBody>
                  <a:tcPr marL="152400" marR="152400" marT="127000" marB="127000" anchor="t">
                    <a:lnL w="12700" cap="flat" cmpd="sng" algn="ctr">
                      <a:solidFill>
                        <a:srgbClr val="45544E"/>
                      </a:solidFill>
                      <a:prstDash val="solid"/>
                      <a:round/>
                      <a:headEnd type="none" w="med" len="med"/>
                      <a:tailEnd type="none" w="med" len="med"/>
                    </a:lnL>
                    <a:lnR w="12700" cap="flat" cmpd="sng" algn="ctr">
                      <a:solidFill>
                        <a:srgbClr val="45544E"/>
                      </a:solidFill>
                      <a:prstDash val="solid"/>
                      <a:round/>
                      <a:headEnd type="none" w="med" len="med"/>
                      <a:tailEnd type="none" w="med" len="med"/>
                    </a:lnR>
                    <a:lnT w="12700" cap="flat" cmpd="sng" algn="ctr">
                      <a:solidFill>
                        <a:srgbClr val="45544E"/>
                      </a:solidFill>
                      <a:prstDash val="solid"/>
                      <a:round/>
                      <a:headEnd type="none" w="med" len="med"/>
                      <a:tailEnd type="none" w="med" len="med"/>
                    </a:lnT>
                    <a:lnB w="12700" cap="flat" cmpd="sng" algn="ctr">
                      <a:solidFill>
                        <a:srgbClr val="45544E"/>
                      </a:solidFill>
                      <a:prstDash val="solid"/>
                      <a:round/>
                      <a:headEnd type="none" w="med" len="med"/>
                      <a:tailEnd type="none" w="med" len="med"/>
                    </a:lnB>
                  </a:tcPr>
                </a:tc>
                <a:tc>
                  <a:txBody>
                    <a:bodyPr/>
                    <a:lstStyle/>
                    <a:p>
                      <a:pPr indent="0" marL="0">
                        <a:lnSpc>
                          <a:spcPts val="2660"/>
                        </a:lnSpc>
                        <a:buNone/>
                      </a:pPr>
                      <a:r>
                        <a:rPr lang="en-US" sz="1900" dirty="0">
                          <a:solidFill>
                            <a:srgbClr val="F3EFE4"/>
                          </a:solidFill>
                          <a:latin typeface="Arial" pitchFamily="34" charset="0"/>
                          <a:ea typeface="Arial" pitchFamily="34" charset="-122"/>
                          <a:cs typeface="Arial" pitchFamily="34" charset="-120"/>
                        </a:rPr>
                        <a:t>Flock shares one food goal</a:t>
                      </a:r>
                      <a:endParaRPr lang="en-US" sz="1900" dirty="0">
                        <a:latin typeface="Arial" charset="0"/>
                        <a:ea typeface="Arial" charset="0"/>
                        <a:cs typeface="Arial" charset="0"/>
                      </a:endParaRPr>
                    </a:p>
                  </a:txBody>
                  <a:tcPr marL="152400" marR="152400" marT="127000" marB="127000" anchor="t">
                    <a:lnL w="12700" cap="flat" cmpd="sng" algn="ctr">
                      <a:solidFill>
                        <a:srgbClr val="45544E"/>
                      </a:solidFill>
                      <a:prstDash val="solid"/>
                      <a:round/>
                      <a:headEnd type="none" w="med" len="med"/>
                      <a:tailEnd type="none" w="med" len="med"/>
                    </a:lnL>
                    <a:lnR w="12700" cap="flat" cmpd="sng" algn="ctr">
                      <a:solidFill>
                        <a:srgbClr val="45544E"/>
                      </a:solidFill>
                      <a:prstDash val="solid"/>
                      <a:round/>
                      <a:headEnd type="none" w="med" len="med"/>
                      <a:tailEnd type="none" w="med" len="med"/>
                    </a:lnR>
                    <a:lnT w="12700" cap="flat" cmpd="sng" algn="ctr">
                      <a:solidFill>
                        <a:srgbClr val="45544E"/>
                      </a:solidFill>
                      <a:prstDash val="solid"/>
                      <a:round/>
                      <a:headEnd type="none" w="med" len="med"/>
                      <a:tailEnd type="none" w="med" len="med"/>
                    </a:lnT>
                    <a:lnB w="12700" cap="flat" cmpd="sng" algn="ctr">
                      <a:solidFill>
                        <a:srgbClr val="45544E"/>
                      </a:solidFill>
                      <a:prstDash val="solid"/>
                      <a:round/>
                      <a:headEnd type="none" w="med" len="med"/>
                      <a:tailEnd type="none" w="med" len="med"/>
                    </a:lnB>
                  </a:tcPr>
                </a:tc>
                <a:tc>
                  <a:txBody>
                    <a:bodyPr/>
                    <a:lstStyle/>
                    <a:p>
                      <a:pPr indent="0" marL="0">
                        <a:lnSpc>
                          <a:spcPts val="2660"/>
                        </a:lnSpc>
                        <a:buNone/>
                      </a:pPr>
                      <a:r>
                        <a:rPr lang="en-US" sz="1900" dirty="0">
                          <a:solidFill>
                            <a:srgbClr val="F3EFE4"/>
                          </a:solidFill>
                          <a:latin typeface="Arial" pitchFamily="34" charset="0"/>
                          <a:ea typeface="Arial" pitchFamily="34" charset="-122"/>
                          <a:cs typeface="Arial" pitchFamily="34" charset="-120"/>
                        </a:rPr>
                        <a:t>Wolves share one target</a:t>
                      </a:r>
                      <a:endParaRPr lang="en-US" sz="1900" dirty="0">
                        <a:latin typeface="Arial" charset="0"/>
                        <a:ea typeface="Arial" charset="0"/>
                        <a:cs typeface="Arial" charset="0"/>
                      </a:endParaRPr>
                    </a:p>
                  </a:txBody>
                  <a:tcPr marL="152400" marR="152400" marT="127000" marB="127000" anchor="t">
                    <a:lnL w="12700" cap="flat" cmpd="sng" algn="ctr">
                      <a:solidFill>
                        <a:srgbClr val="45544E"/>
                      </a:solidFill>
                      <a:prstDash val="solid"/>
                      <a:round/>
                      <a:headEnd type="none" w="med" len="med"/>
                      <a:tailEnd type="none" w="med" len="med"/>
                    </a:lnL>
                    <a:lnR w="12700" cap="flat" cmpd="sng" algn="ctr">
                      <a:solidFill>
                        <a:srgbClr val="45544E"/>
                      </a:solidFill>
                      <a:prstDash val="solid"/>
                      <a:round/>
                      <a:headEnd type="none" w="med" len="med"/>
                      <a:tailEnd type="none" w="med" len="med"/>
                    </a:lnR>
                    <a:lnT w="12700" cap="flat" cmpd="sng" algn="ctr">
                      <a:solidFill>
                        <a:srgbClr val="45544E"/>
                      </a:solidFill>
                      <a:prstDash val="solid"/>
                      <a:round/>
                      <a:headEnd type="none" w="med" len="med"/>
                      <a:tailEnd type="none" w="med" len="med"/>
                    </a:lnT>
                    <a:lnB w="12700" cap="flat" cmpd="sng" algn="ctr">
                      <a:solidFill>
                        <a:srgbClr val="45544E"/>
                      </a:solidFill>
                      <a:prstDash val="solid"/>
                      <a:round/>
                      <a:headEnd type="none" w="med" len="med"/>
                      <a:tailEnd type="none" w="med" len="med"/>
                    </a:lnB>
                  </a:tcPr>
                </a:tc>
              </a:tr>
              <a:tr h="604490">
                <a:tc>
                  <a:txBody>
                    <a:bodyPr/>
                    <a:lstStyle/>
                    <a:p>
                      <a:pPr indent="0" marL="0">
                        <a:lnSpc>
                          <a:spcPts val="2660"/>
                        </a:lnSpc>
                        <a:buNone/>
                      </a:pPr>
                      <a:r>
                        <a:rPr lang="en-US" sz="1900" dirty="0">
                          <a:solidFill>
                            <a:srgbClr val="9FB0A6"/>
                          </a:solidFill>
                          <a:latin typeface="Arial" pitchFamily="34" charset="0"/>
                          <a:ea typeface="Arial" pitchFamily="34" charset="-122"/>
                          <a:cs typeface="Arial" pitchFamily="34" charset="-120"/>
                        </a:rPr>
                        <a:t>Reacts</a:t>
                      </a:r>
                      <a:endParaRPr lang="en-US" sz="1900" dirty="0">
                        <a:latin typeface="Arial" charset="0"/>
                        <a:ea typeface="Arial" charset="0"/>
                        <a:cs typeface="Arial" charset="0"/>
                      </a:endParaRPr>
                    </a:p>
                  </a:txBody>
                  <a:tcPr marL="152400" marR="152400" marT="127000" marB="127000" anchor="t">
                    <a:lnL w="12700" cap="flat" cmpd="sng" algn="ctr">
                      <a:solidFill>
                        <a:srgbClr val="45544E"/>
                      </a:solidFill>
                      <a:prstDash val="solid"/>
                      <a:round/>
                      <a:headEnd type="none" w="med" len="med"/>
                      <a:tailEnd type="none" w="med" len="med"/>
                    </a:lnL>
                    <a:lnR w="12700" cap="flat" cmpd="sng" algn="ctr">
                      <a:solidFill>
                        <a:srgbClr val="45544E"/>
                      </a:solidFill>
                      <a:prstDash val="solid"/>
                      <a:round/>
                      <a:headEnd type="none" w="med" len="med"/>
                      <a:tailEnd type="none" w="med" len="med"/>
                    </a:lnR>
                    <a:lnT w="12700" cap="flat" cmpd="sng" algn="ctr">
                      <a:solidFill>
                        <a:srgbClr val="45544E"/>
                      </a:solidFill>
                      <a:prstDash val="solid"/>
                      <a:round/>
                      <a:headEnd type="none" w="med" len="med"/>
                      <a:tailEnd type="none" w="med" len="med"/>
                    </a:lnT>
                    <a:lnB w="12700" cap="flat" cmpd="sng" algn="ctr">
                      <a:solidFill>
                        <a:srgbClr val="45544E"/>
                      </a:solidFill>
                      <a:prstDash val="solid"/>
                      <a:round/>
                      <a:headEnd type="none" w="med" len="med"/>
                      <a:tailEnd type="none" w="med" len="med"/>
                    </a:lnB>
                  </a:tcPr>
                </a:tc>
                <a:tc>
                  <a:txBody>
                    <a:bodyPr/>
                    <a:lstStyle/>
                    <a:p>
                      <a:pPr indent="0" marL="0">
                        <a:lnSpc>
                          <a:spcPts val="2660"/>
                        </a:lnSpc>
                        <a:buNone/>
                      </a:pPr>
                      <a:r>
                        <a:rPr lang="en-US" sz="1900" dirty="0">
                          <a:solidFill>
                            <a:srgbClr val="F3EFE4"/>
                          </a:solidFill>
                          <a:latin typeface="Arial" pitchFamily="34" charset="0"/>
                          <a:ea typeface="Arial" pitchFamily="34" charset="-122"/>
                          <a:cs typeface="Arial" pitchFamily="34" charset="-120"/>
                        </a:rPr>
                        <a:t>Panic, then despair</a:t>
                      </a:r>
                      <a:endParaRPr lang="en-US" sz="1900" dirty="0">
                        <a:latin typeface="Arial" charset="0"/>
                        <a:ea typeface="Arial" charset="0"/>
                        <a:cs typeface="Arial" charset="0"/>
                      </a:endParaRPr>
                    </a:p>
                  </a:txBody>
                  <a:tcPr marL="152400" marR="152400" marT="127000" marB="127000" anchor="t">
                    <a:lnL w="12700" cap="flat" cmpd="sng" algn="ctr">
                      <a:solidFill>
                        <a:srgbClr val="45544E"/>
                      </a:solidFill>
                      <a:prstDash val="solid"/>
                      <a:round/>
                      <a:headEnd type="none" w="med" len="med"/>
                      <a:tailEnd type="none" w="med" len="med"/>
                    </a:lnL>
                    <a:lnR w="12700" cap="flat" cmpd="sng" algn="ctr">
                      <a:solidFill>
                        <a:srgbClr val="45544E"/>
                      </a:solidFill>
                      <a:prstDash val="solid"/>
                      <a:round/>
                      <a:headEnd type="none" w="med" len="med"/>
                      <a:tailEnd type="none" w="med" len="med"/>
                    </a:lnR>
                    <a:lnT w="12700" cap="flat" cmpd="sng" algn="ctr">
                      <a:solidFill>
                        <a:srgbClr val="45544E"/>
                      </a:solidFill>
                      <a:prstDash val="solid"/>
                      <a:round/>
                      <a:headEnd type="none" w="med" len="med"/>
                      <a:tailEnd type="none" w="med" len="med"/>
                    </a:lnT>
                    <a:lnB w="12700" cap="flat" cmpd="sng" algn="ctr">
                      <a:solidFill>
                        <a:srgbClr val="45544E"/>
                      </a:solidFill>
                      <a:prstDash val="solid"/>
                      <a:round/>
                      <a:headEnd type="none" w="med" len="med"/>
                      <a:tailEnd type="none" w="med" len="med"/>
                    </a:lnB>
                  </a:tcPr>
                </a:tc>
                <a:tc>
                  <a:txBody>
                    <a:bodyPr/>
                    <a:lstStyle/>
                    <a:p>
                      <a:pPr indent="0" marL="0">
                        <a:lnSpc>
                          <a:spcPts val="2660"/>
                        </a:lnSpc>
                        <a:buNone/>
                      </a:pPr>
                      <a:r>
                        <a:rPr lang="en-US" sz="1900" dirty="0">
                          <a:solidFill>
                            <a:srgbClr val="F3EFE4"/>
                          </a:solidFill>
                          <a:latin typeface="Arial" pitchFamily="34" charset="0"/>
                          <a:ea typeface="Arial" pitchFamily="34" charset="-122"/>
                          <a:cs typeface="Arial" pitchFamily="34" charset="-120"/>
                        </a:rPr>
                        <a:t>Chase, ambush or camp</a:t>
                      </a:r>
                      <a:endParaRPr lang="en-US" sz="1900" dirty="0">
                        <a:latin typeface="Arial" charset="0"/>
                        <a:ea typeface="Arial" charset="0"/>
                        <a:cs typeface="Arial" charset="0"/>
                      </a:endParaRPr>
                    </a:p>
                  </a:txBody>
                  <a:tcPr marL="152400" marR="152400" marT="127000" marB="127000" anchor="t">
                    <a:lnL w="12700" cap="flat" cmpd="sng" algn="ctr">
                      <a:solidFill>
                        <a:srgbClr val="45544E"/>
                      </a:solidFill>
                      <a:prstDash val="solid"/>
                      <a:round/>
                      <a:headEnd type="none" w="med" len="med"/>
                      <a:tailEnd type="none" w="med" len="med"/>
                    </a:lnL>
                    <a:lnR w="12700" cap="flat" cmpd="sng" algn="ctr">
                      <a:solidFill>
                        <a:srgbClr val="45544E"/>
                      </a:solidFill>
                      <a:prstDash val="solid"/>
                      <a:round/>
                      <a:headEnd type="none" w="med" len="med"/>
                      <a:tailEnd type="none" w="med" len="med"/>
                    </a:lnR>
                    <a:lnT w="12700" cap="flat" cmpd="sng" algn="ctr">
                      <a:solidFill>
                        <a:srgbClr val="45544E"/>
                      </a:solidFill>
                      <a:prstDash val="solid"/>
                      <a:round/>
                      <a:headEnd type="none" w="med" len="med"/>
                      <a:tailEnd type="none" w="med" len="med"/>
                    </a:lnT>
                    <a:lnB w="12700" cap="flat" cmpd="sng" algn="ctr">
                      <a:solidFill>
                        <a:srgbClr val="45544E"/>
                      </a:solidFill>
                      <a:prstDash val="solid"/>
                      <a:round/>
                      <a:headEnd type="none" w="med" len="med"/>
                      <a:tailEnd type="none" w="med" len="med"/>
                    </a:lnB>
                  </a:tcPr>
                </a:tc>
              </a:tr>
              <a:tr h="604490">
                <a:tc>
                  <a:txBody>
                    <a:bodyPr/>
                    <a:lstStyle/>
                    <a:p>
                      <a:pPr indent="0" marL="0">
                        <a:lnSpc>
                          <a:spcPts val="2660"/>
                        </a:lnSpc>
                        <a:buNone/>
                      </a:pPr>
                      <a:r>
                        <a:rPr lang="en-US" sz="1900" dirty="0">
                          <a:solidFill>
                            <a:srgbClr val="9FB0A6"/>
                          </a:solidFill>
                          <a:latin typeface="Arial" pitchFamily="34" charset="0"/>
                          <a:ea typeface="Arial" pitchFamily="34" charset="-122"/>
                          <a:cs typeface="Arial" pitchFamily="34" charset="-120"/>
                        </a:rPr>
                        <a:t>Paths</a:t>
                      </a:r>
                      <a:endParaRPr lang="en-US" sz="1900" dirty="0">
                        <a:latin typeface="Arial" charset="0"/>
                        <a:ea typeface="Arial" charset="0"/>
                        <a:cs typeface="Arial" charset="0"/>
                      </a:endParaRPr>
                    </a:p>
                  </a:txBody>
                  <a:tcPr marL="152400" marR="152400" marT="127000" marB="127000" anchor="t">
                    <a:lnL w="12700" cap="flat" cmpd="sng" algn="ctr">
                      <a:solidFill>
                        <a:srgbClr val="45544E"/>
                      </a:solidFill>
                      <a:prstDash val="solid"/>
                      <a:round/>
                      <a:headEnd type="none" w="med" len="med"/>
                      <a:tailEnd type="none" w="med" len="med"/>
                    </a:lnL>
                    <a:lnR w="12700" cap="flat" cmpd="sng" algn="ctr">
                      <a:solidFill>
                        <a:srgbClr val="45544E"/>
                      </a:solidFill>
                      <a:prstDash val="solid"/>
                      <a:round/>
                      <a:headEnd type="none" w="med" len="med"/>
                      <a:tailEnd type="none" w="med" len="med"/>
                    </a:lnR>
                    <a:lnT w="12700" cap="flat" cmpd="sng" algn="ctr">
                      <a:solidFill>
                        <a:srgbClr val="45544E"/>
                      </a:solidFill>
                      <a:prstDash val="solid"/>
                      <a:round/>
                      <a:headEnd type="none" w="med" len="med"/>
                      <a:tailEnd type="none" w="med" len="med"/>
                    </a:lnT>
                    <a:lnB w="12700" cap="flat" cmpd="sng" algn="ctr">
                      <a:solidFill>
                        <a:srgbClr val="45544E"/>
                      </a:solidFill>
                      <a:prstDash val="solid"/>
                      <a:round/>
                      <a:headEnd type="none" w="med" len="med"/>
                      <a:tailEnd type="none" w="med" len="med"/>
                    </a:lnB>
                  </a:tcPr>
                </a:tc>
                <a:tc>
                  <a:txBody>
                    <a:bodyPr/>
                    <a:lstStyle/>
                    <a:p>
                      <a:pPr indent="0" marL="0">
                        <a:lnSpc>
                          <a:spcPts val="2660"/>
                        </a:lnSpc>
                        <a:buNone/>
                      </a:pPr>
                      <a:r>
                        <a:rPr lang="en-US" sz="1900" dirty="0">
                          <a:solidFill>
                            <a:srgbClr val="F3EFE4"/>
                          </a:solidFill>
                          <a:latin typeface="Arial" pitchFamily="34" charset="0"/>
                          <a:ea typeface="Arial" pitchFamily="34" charset="-122"/>
                          <a:cs typeface="Arial" pitchFamily="34" charset="-120"/>
                        </a:rPr>
                        <a:t>BFS and A*</a:t>
                      </a:r>
                      <a:endParaRPr lang="en-US" sz="1900" dirty="0">
                        <a:latin typeface="Arial" charset="0"/>
                        <a:ea typeface="Arial" charset="0"/>
                        <a:cs typeface="Arial" charset="0"/>
                      </a:endParaRPr>
                    </a:p>
                  </a:txBody>
                  <a:tcPr marL="152400" marR="152400" marT="127000" marB="127000" anchor="t">
                    <a:lnL w="12700" cap="flat" cmpd="sng" algn="ctr">
                      <a:solidFill>
                        <a:srgbClr val="45544E"/>
                      </a:solidFill>
                      <a:prstDash val="solid"/>
                      <a:round/>
                      <a:headEnd type="none" w="med" len="med"/>
                      <a:tailEnd type="none" w="med" len="med"/>
                    </a:lnL>
                    <a:lnR w="12700" cap="flat" cmpd="sng" algn="ctr">
                      <a:solidFill>
                        <a:srgbClr val="45544E"/>
                      </a:solidFill>
                      <a:prstDash val="solid"/>
                      <a:round/>
                      <a:headEnd type="none" w="med" len="med"/>
                      <a:tailEnd type="none" w="med" len="med"/>
                    </a:lnR>
                    <a:lnT w="12700" cap="flat" cmpd="sng" algn="ctr">
                      <a:solidFill>
                        <a:srgbClr val="45544E"/>
                      </a:solidFill>
                      <a:prstDash val="solid"/>
                      <a:round/>
                      <a:headEnd type="none" w="med" len="med"/>
                      <a:tailEnd type="none" w="med" len="med"/>
                    </a:lnT>
                    <a:lnB w="12700" cap="flat" cmpd="sng" algn="ctr">
                      <a:solidFill>
                        <a:srgbClr val="45544E"/>
                      </a:solidFill>
                      <a:prstDash val="solid"/>
                      <a:round/>
                      <a:headEnd type="none" w="med" len="med"/>
                      <a:tailEnd type="none" w="med" len="med"/>
                    </a:lnB>
                  </a:tcPr>
                </a:tc>
                <a:tc>
                  <a:txBody>
                    <a:bodyPr/>
                    <a:lstStyle/>
                    <a:p>
                      <a:pPr indent="0" marL="0">
                        <a:lnSpc>
                          <a:spcPts val="2660"/>
                        </a:lnSpc>
                        <a:buNone/>
                      </a:pPr>
                      <a:r>
                        <a:rPr lang="en-US" sz="1900" dirty="0">
                          <a:solidFill>
                            <a:srgbClr val="F3EFE4"/>
                          </a:solidFill>
                          <a:latin typeface="Arial" pitchFamily="34" charset="0"/>
                          <a:ea typeface="Arial" pitchFamily="34" charset="-122"/>
                          <a:cs typeface="Arial" pitchFamily="34" charset="-120"/>
                        </a:rPr>
                        <a:t>A* and BFS distance map</a:t>
                      </a:r>
                      <a:endParaRPr lang="en-US" sz="1900" dirty="0">
                        <a:latin typeface="Arial" charset="0"/>
                        <a:ea typeface="Arial" charset="0"/>
                        <a:cs typeface="Arial" charset="0"/>
                      </a:endParaRPr>
                    </a:p>
                  </a:txBody>
                  <a:tcPr marL="152400" marR="152400" marT="127000" marB="127000" anchor="t">
                    <a:lnL w="12700" cap="flat" cmpd="sng" algn="ctr">
                      <a:solidFill>
                        <a:srgbClr val="45544E"/>
                      </a:solidFill>
                      <a:prstDash val="solid"/>
                      <a:round/>
                      <a:headEnd type="none" w="med" len="med"/>
                      <a:tailEnd type="none" w="med" len="med"/>
                    </a:lnL>
                    <a:lnR w="12700" cap="flat" cmpd="sng" algn="ctr">
                      <a:solidFill>
                        <a:srgbClr val="45544E"/>
                      </a:solidFill>
                      <a:prstDash val="solid"/>
                      <a:round/>
                      <a:headEnd type="none" w="med" len="med"/>
                      <a:tailEnd type="none" w="med" len="med"/>
                    </a:lnR>
                    <a:lnT w="12700" cap="flat" cmpd="sng" algn="ctr">
                      <a:solidFill>
                        <a:srgbClr val="45544E"/>
                      </a:solidFill>
                      <a:prstDash val="solid"/>
                      <a:round/>
                      <a:headEnd type="none" w="med" len="med"/>
                      <a:tailEnd type="none" w="med" len="med"/>
                    </a:lnT>
                    <a:lnB w="12700" cap="flat" cmpd="sng" algn="ctr">
                      <a:solidFill>
                        <a:srgbClr val="45544E"/>
                      </a:solidFill>
                      <a:prstDash val="solid"/>
                      <a:round/>
                      <a:headEnd type="none" w="med" len="med"/>
                      <a:tailEnd type="none" w="med" len="med"/>
                    </a:lnB>
                  </a:tcPr>
                </a:tc>
              </a:tr>
              <a:tr h="942280">
                <a:tc>
                  <a:txBody>
                    <a:bodyPr/>
                    <a:lstStyle/>
                    <a:p>
                      <a:pPr indent="0" marL="0">
                        <a:lnSpc>
                          <a:spcPts val="2660"/>
                        </a:lnSpc>
                        <a:buNone/>
                      </a:pPr>
                      <a:r>
                        <a:rPr lang="en-US" sz="1900" dirty="0">
                          <a:solidFill>
                            <a:srgbClr val="9FB0A6"/>
                          </a:solidFill>
                          <a:latin typeface="Arial" pitchFamily="34" charset="0"/>
                          <a:ea typeface="Arial" pitchFamily="34" charset="-122"/>
                          <a:cs typeface="Arial" pitchFamily="34" charset="-120"/>
                        </a:rPr>
                        <a:t>Default brain</a:t>
                      </a:r>
                      <a:endParaRPr lang="en-US" sz="1900" dirty="0">
                        <a:latin typeface="Arial" charset="0"/>
                        <a:ea typeface="Arial" charset="0"/>
                        <a:cs typeface="Arial" charset="0"/>
                      </a:endParaRPr>
                    </a:p>
                  </a:txBody>
                  <a:tcPr marL="152400" marR="152400" marT="127000" marB="127000" anchor="t">
                    <a:lnL w="12700" cap="flat" cmpd="sng" algn="ctr">
                      <a:solidFill>
                        <a:srgbClr val="45544E"/>
                      </a:solidFill>
                      <a:prstDash val="solid"/>
                      <a:round/>
                      <a:headEnd type="none" w="med" len="med"/>
                      <a:tailEnd type="none" w="med" len="med"/>
                    </a:lnL>
                    <a:lnR w="12700" cap="flat" cmpd="sng" algn="ctr">
                      <a:solidFill>
                        <a:srgbClr val="45544E"/>
                      </a:solidFill>
                      <a:prstDash val="solid"/>
                      <a:round/>
                      <a:headEnd type="none" w="med" len="med"/>
                      <a:tailEnd type="none" w="med" len="med"/>
                    </a:lnR>
                    <a:lnT w="12700" cap="flat" cmpd="sng" algn="ctr">
                      <a:solidFill>
                        <a:srgbClr val="45544E"/>
                      </a:solidFill>
                      <a:prstDash val="solid"/>
                      <a:round/>
                      <a:headEnd type="none" w="med" len="med"/>
                      <a:tailEnd type="none" w="med" len="med"/>
                    </a:lnT>
                    <a:lnB w="12700" cap="flat" cmpd="sng" algn="ctr">
                      <a:solidFill>
                        <a:srgbClr val="45544E"/>
                      </a:solidFill>
                      <a:prstDash val="solid"/>
                      <a:round/>
                      <a:headEnd type="none" w="med" len="med"/>
                      <a:tailEnd type="none" w="med" len="med"/>
                    </a:lnB>
                  </a:tcPr>
                </a:tc>
                <a:tc>
                  <a:txBody>
                    <a:bodyPr/>
                    <a:lstStyle/>
                    <a:p>
                      <a:pPr indent="0" marL="0">
                        <a:lnSpc>
                          <a:spcPts val="2660"/>
                        </a:lnSpc>
                        <a:buNone/>
                      </a:pPr>
                      <a:r>
                        <a:rPr lang="en-US" sz="1900" dirty="0">
                          <a:solidFill>
                            <a:srgbClr val="F3EFE4"/>
                          </a:solidFill>
                          <a:latin typeface="Arial" pitchFamily="34" charset="0"/>
                          <a:ea typeface="Arial" pitchFamily="34" charset="-122"/>
                          <a:cs typeface="Arial" pitchFamily="34" charset="-120"/>
                        </a:rPr>
                        <a:t>Scores tiles for safety and food</a:t>
                      </a:r>
                      <a:endParaRPr lang="en-US" sz="1900" dirty="0">
                        <a:latin typeface="Arial" charset="0"/>
                        <a:ea typeface="Arial" charset="0"/>
                        <a:cs typeface="Arial" charset="0"/>
                      </a:endParaRPr>
                    </a:p>
                  </a:txBody>
                  <a:tcPr marL="152400" marR="152400" marT="127000" marB="127000" anchor="t">
                    <a:lnL w="12700" cap="flat" cmpd="sng" algn="ctr">
                      <a:solidFill>
                        <a:srgbClr val="45544E"/>
                      </a:solidFill>
                      <a:prstDash val="solid"/>
                      <a:round/>
                      <a:headEnd type="none" w="med" len="med"/>
                      <a:tailEnd type="none" w="med" len="med"/>
                    </a:lnL>
                    <a:lnR w="12700" cap="flat" cmpd="sng" algn="ctr">
                      <a:solidFill>
                        <a:srgbClr val="45544E"/>
                      </a:solidFill>
                      <a:prstDash val="solid"/>
                      <a:round/>
                      <a:headEnd type="none" w="med" len="med"/>
                      <a:tailEnd type="none" w="med" len="med"/>
                    </a:lnR>
                    <a:lnT w="12700" cap="flat" cmpd="sng" algn="ctr">
                      <a:solidFill>
                        <a:srgbClr val="45544E"/>
                      </a:solidFill>
                      <a:prstDash val="solid"/>
                      <a:round/>
                      <a:headEnd type="none" w="med" len="med"/>
                      <a:tailEnd type="none" w="med" len="med"/>
                    </a:lnT>
                    <a:lnB w="12700" cap="flat" cmpd="sng" algn="ctr">
                      <a:solidFill>
                        <a:srgbClr val="45544E"/>
                      </a:solidFill>
                      <a:prstDash val="solid"/>
                      <a:round/>
                      <a:headEnd type="none" w="med" len="med"/>
                      <a:tailEnd type="none" w="med" len="med"/>
                    </a:lnB>
                  </a:tcPr>
                </a:tc>
                <a:tc>
                  <a:txBody>
                    <a:bodyPr/>
                    <a:lstStyle/>
                    <a:p>
                      <a:pPr indent="0" marL="0">
                        <a:lnSpc>
                          <a:spcPts val="2660"/>
                        </a:lnSpc>
                        <a:buNone/>
                      </a:pPr>
                      <a:r>
                        <a:rPr lang="en-US" sz="1900" dirty="0">
                          <a:solidFill>
                            <a:srgbClr val="F3EFE4"/>
                          </a:solidFill>
                          <a:latin typeface="Arial" pitchFamily="34" charset="0"/>
                          <a:ea typeface="Arial" pitchFamily="34" charset="-122"/>
                          <a:cs typeface="Arial" pitchFamily="34" charset="-120"/>
                        </a:rPr>
                        <a:t>Hits the weakest prey in reach</a:t>
                      </a:r>
                      <a:endParaRPr lang="en-US" sz="1900" dirty="0">
                        <a:latin typeface="Arial" charset="0"/>
                        <a:ea typeface="Arial" charset="0"/>
                        <a:cs typeface="Arial" charset="0"/>
                      </a:endParaRPr>
                    </a:p>
                  </a:txBody>
                  <a:tcPr marL="152400" marR="152400" marT="127000" marB="127000" anchor="t">
                    <a:lnL w="12700" cap="flat" cmpd="sng" algn="ctr">
                      <a:solidFill>
                        <a:srgbClr val="45544E"/>
                      </a:solidFill>
                      <a:prstDash val="solid"/>
                      <a:round/>
                      <a:headEnd type="none" w="med" len="med"/>
                      <a:tailEnd type="none" w="med" len="med"/>
                    </a:lnL>
                    <a:lnR w="12700" cap="flat" cmpd="sng" algn="ctr">
                      <a:solidFill>
                        <a:srgbClr val="45544E"/>
                      </a:solidFill>
                      <a:prstDash val="solid"/>
                      <a:round/>
                      <a:headEnd type="none" w="med" len="med"/>
                      <a:tailEnd type="none" w="med" len="med"/>
                    </a:lnR>
                    <a:lnT w="12700" cap="flat" cmpd="sng" algn="ctr">
                      <a:solidFill>
                        <a:srgbClr val="45544E"/>
                      </a:solidFill>
                      <a:prstDash val="solid"/>
                      <a:round/>
                      <a:headEnd type="none" w="med" len="med"/>
                      <a:tailEnd type="none" w="med" len="med"/>
                    </a:lnT>
                    <a:lnB w="12700" cap="flat" cmpd="sng" algn="ctr">
                      <a:solidFill>
                        <a:srgbClr val="45544E"/>
                      </a:solidFill>
                      <a:prstDash val="solid"/>
                      <a:round/>
                      <a:headEnd type="none" w="med" len="med"/>
                      <a:tailEnd type="none" w="med" len="med"/>
                    </a:lnB>
                  </a:tcPr>
                </a:tc>
              </a:tr>
            </a:tbl>
          </a:graphicData>
        </a:graphic>
      </p:graphicFrame>
      <p:sp>
        <p:nvSpPr>
          <p:cNvPr id="4" name="Text 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FB0A6"/>
                </a:solidFill>
                <a:latin typeface="Arial" pitchFamily="34" charset="0"/>
                <a:ea typeface="Arial" pitchFamily="34" charset="-122"/>
                <a:cs typeface="Arial" pitchFamily="34" charset="-120"/>
              </a:rPr>
              <a:t>11 / 12</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261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842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F3EFE4"/>
                </a:solidFill>
                <a:latin typeface="Arial" pitchFamily="34" charset="0"/>
                <a:ea typeface="Arial" pitchFamily="34" charset="-122"/>
                <a:cs typeface="Arial" pitchFamily="34" charset="-120"/>
              </a:rPr>
              <a:t>AI Opponents Compared</a:t>
            </a:r>
            <a:endParaRPr lang="en-US" sz="4000" dirty="0"/>
          </a:p>
        </p:txBody>
      </p:sp>
      <p:sp>
        <p:nvSpPr>
          <p:cNvPr id="3" name="Text 1"/>
          <p:cNvSpPr/>
          <p:nvPr/>
        </p:nvSpPr>
        <p:spPr>
          <a:xfrm>
            <a:off x="812800" y="1727200"/>
            <a:ext cx="525202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5FC4B0"/>
                </a:solidFill>
                <a:latin typeface="Arial" pitchFamily="34" charset="0"/>
                <a:ea typeface="Arial" pitchFamily="34" charset="-122"/>
                <a:cs typeface="Arial" pitchFamily="34" charset="-120"/>
              </a:rPr>
              <a:t>Calm</a:t>
            </a:r>
            <a:r>
              <a:rPr lang="en-US" sz="2000" dirty="0">
                <a:solidFill>
                  <a:srgbClr val="F3EFE4"/>
                </a:solidFill>
                <a:latin typeface="Arial" pitchFamily="34" charset="0"/>
                <a:ea typeface="Arial" pitchFamily="34" charset="-122"/>
                <a:cs typeface="Arial" pitchFamily="34" charset="-120"/>
              </a:rPr>
              <a:t> · nearest gain</a:t>
            </a:r>
            <a:endParaRPr lang="en-US" sz="2000" dirty="0"/>
          </a:p>
        </p:txBody>
      </p:sp>
      <p:sp>
        <p:nvSpPr>
          <p:cNvPr id="4" name="Text 2"/>
          <p:cNvSpPr/>
          <p:nvPr/>
        </p:nvSpPr>
        <p:spPr>
          <a:xfrm>
            <a:off x="812800" y="2260600"/>
            <a:ext cx="525202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5FC4B0"/>
                </a:solidFill>
                <a:latin typeface="Arial" pitchFamily="34" charset="0"/>
                <a:ea typeface="Arial" pitchFamily="34" charset="-122"/>
                <a:cs typeface="Arial" pitchFamily="34" charset="-120"/>
              </a:rPr>
              <a:t>Wary</a:t>
            </a:r>
            <a:r>
              <a:rPr lang="en-US" sz="2000" dirty="0">
                <a:solidFill>
                  <a:srgbClr val="F3EFE4"/>
                </a:solidFill>
                <a:latin typeface="Arial" pitchFamily="34" charset="0"/>
                <a:ea typeface="Arial" pitchFamily="34" charset="-122"/>
                <a:cs typeface="Arial" pitchFamily="34" charset="-120"/>
              </a:rPr>
              <a:t> · scored tiles, default</a:t>
            </a:r>
            <a:endParaRPr lang="en-US" sz="2000" dirty="0"/>
          </a:p>
        </p:txBody>
      </p:sp>
      <p:sp>
        <p:nvSpPr>
          <p:cNvPr id="5" name="Text 3"/>
          <p:cNvSpPr/>
          <p:nvPr/>
        </p:nvSpPr>
        <p:spPr>
          <a:xfrm>
            <a:off x="812800" y="2794000"/>
            <a:ext cx="525202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5FC4B0"/>
                </a:solidFill>
                <a:latin typeface="Arial" pitchFamily="34" charset="0"/>
                <a:ea typeface="Arial" pitchFamily="34" charset="-122"/>
                <a:cs typeface="Arial" pitchFamily="34" charset="-120"/>
              </a:rPr>
              <a:t>Sharp</a:t>
            </a:r>
            <a:r>
              <a:rPr lang="en-US" sz="2000" dirty="0">
                <a:solidFill>
                  <a:srgbClr val="F3EFE4"/>
                </a:solidFill>
                <a:latin typeface="Arial" pitchFamily="34" charset="0"/>
                <a:ea typeface="Arial" pitchFamily="34" charset="-122"/>
                <a:cs typeface="Arial" pitchFamily="34" charset="-120"/>
              </a:rPr>
              <a:t> · REINFORCE, 8→8→1</a:t>
            </a:r>
            <a:endParaRPr lang="en-US" sz="2000" dirty="0"/>
          </a:p>
        </p:txBody>
      </p:sp>
      <p:sp>
        <p:nvSpPr>
          <p:cNvPr id="6" name="Text 4"/>
          <p:cNvSpPr/>
          <p:nvPr/>
        </p:nvSpPr>
        <p:spPr>
          <a:xfrm>
            <a:off x="812800" y="3327400"/>
            <a:ext cx="525202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5FC4B0"/>
                </a:solidFill>
                <a:latin typeface="Arial" pitchFamily="34" charset="0"/>
                <a:ea typeface="Arial" pitchFamily="34" charset="-122"/>
                <a:cs typeface="Arial" pitchFamily="34" charset="-120"/>
              </a:rPr>
              <a:t>Classical ML</a:t>
            </a:r>
            <a:r>
              <a:rPr lang="en-US" sz="2000" dirty="0">
                <a:solidFill>
                  <a:srgbClr val="F3EFE4"/>
                </a:solidFill>
                <a:latin typeface="Arial" pitchFamily="34" charset="0"/>
                <a:ea typeface="Arial" pitchFamily="34" charset="-122"/>
                <a:cs typeface="Arial" pitchFamily="34" charset="-120"/>
              </a:rPr>
              <a:t> · copy of Wary’s tile, not a win rate</a:t>
            </a:r>
            <a:endParaRPr lang="en-US" sz="2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280150" y="1739900"/>
          <a:ext cx="5099050" cy="3063180"/>
        </p:xfrm>
        <a:graphic>
          <a:graphicData uri="http://schemas.openxmlformats.org/drawingml/2006/table">
            <a:tbl>
              <a:tblPr/>
              <a:tblGrid>
                <a:gridCol w="2549525"/>
                <a:gridCol w="2549525"/>
              </a:tblGrid>
              <a:tr h="510530">
                <a:tc>
                  <a:txBody>
                    <a:bodyPr/>
                    <a:lstStyle/>
                    <a:p>
                      <a:pPr indent="0" marL="0">
                        <a:lnSpc>
                          <a:spcPts val="2520"/>
                        </a:lnSpc>
                        <a:buNone/>
                      </a:pPr>
                      <a:r>
                        <a:rPr lang="en-US" sz="1800" b="1" dirty="0">
                          <a:solidFill>
                            <a:srgbClr val="F0883E"/>
                          </a:solidFill>
                          <a:latin typeface="Arial" pitchFamily="34" charset="0"/>
                          <a:ea typeface="Arial" pitchFamily="34" charset="-122"/>
                          <a:cs typeface="Arial" pitchFamily="34" charset="-120"/>
                        </a:rPr>
                        <a:t>Model</a:t>
                      </a:r>
                      <a:endParaRPr lang="en-US" sz="1800" dirty="0">
                        <a:latin typeface="Arial" charset="0"/>
                        <a:ea typeface="Arial" charset="0"/>
                        <a:cs typeface="Arial" charset="0"/>
                      </a:endParaRPr>
                    </a:p>
                  </a:txBody>
                  <a:tcPr marL="88900" marR="88900" marT="88900" marB="88900" anchor="t">
                    <a:lnL w="12700" cap="flat" cmpd="sng" algn="ctr">
                      <a:solidFill>
                        <a:srgbClr val="45544E"/>
                      </a:solidFill>
                      <a:prstDash val="solid"/>
                      <a:round/>
                      <a:headEnd type="none" w="med" len="med"/>
                      <a:tailEnd type="none" w="med" len="med"/>
                    </a:lnL>
                    <a:lnR w="12700" cap="flat" cmpd="sng" algn="ctr">
                      <a:solidFill>
                        <a:srgbClr val="54625B"/>
                      </a:solidFill>
                      <a:prstDash val="solid"/>
                      <a:round/>
                      <a:headEnd type="none" w="med" len="med"/>
                      <a:tailEnd type="none" w="med" len="med"/>
                    </a:lnR>
                    <a:lnT w="12700" cap="flat" cmpd="sng" algn="ctr">
                      <a:solidFill>
                        <a:srgbClr val="45544E"/>
                      </a:solidFill>
                      <a:prstDash val="solid"/>
                      <a:round/>
                      <a:headEnd type="none" w="med" len="med"/>
                      <a:tailEnd type="none" w="med" len="med"/>
                    </a:lnT>
                    <a:lnB w="12700" cap="flat" cmpd="sng" algn="ctr">
                      <a:solidFill>
                        <a:srgbClr val="54625B"/>
                      </a:solidFill>
                      <a:prstDash val="solid"/>
                      <a:round/>
                      <a:headEnd type="none" w="med" len="med"/>
                      <a:tailEnd type="none" w="med" len="med"/>
                    </a:lnB>
                    <a:solidFill>
                      <a:srgbClr val="253730"/>
                    </a:solidFill>
                  </a:tcPr>
                </a:tc>
                <a:tc>
                  <a:txBody>
                    <a:bodyPr/>
                    <a:lstStyle/>
                    <a:p>
                      <a:pPr algn="r" indent="0" marL="0">
                        <a:lnSpc>
                          <a:spcPts val="2520"/>
                        </a:lnSpc>
                        <a:buNone/>
                      </a:pPr>
                      <a:r>
                        <a:rPr lang="en-US" sz="1800" b="1" dirty="0">
                          <a:solidFill>
                            <a:srgbClr val="F0883E"/>
                          </a:solidFill>
                          <a:latin typeface="Arial" pitchFamily="34" charset="0"/>
                          <a:ea typeface="Arial" pitchFamily="34" charset="-122"/>
                          <a:cs typeface="Arial" pitchFamily="34" charset="-120"/>
                        </a:rPr>
                        <a:t>Copy of Wary</a:t>
                      </a:r>
                      <a:endParaRPr lang="en-US" sz="1800" dirty="0">
                        <a:latin typeface="Arial" charset="0"/>
                        <a:ea typeface="Arial" charset="0"/>
                        <a:cs typeface="Arial" charset="0"/>
                      </a:endParaRPr>
                    </a:p>
                  </a:txBody>
                  <a:tcPr marL="88900" marR="88900" marT="88900" marB="88900" anchor="t">
                    <a:lnL w="12700" cap="flat" cmpd="sng" algn="ctr">
                      <a:solidFill>
                        <a:srgbClr val="54625B"/>
                      </a:solidFill>
                      <a:prstDash val="solid"/>
                      <a:round/>
                      <a:headEnd type="none" w="med" len="med"/>
                      <a:tailEnd type="none" w="med" len="med"/>
                    </a:lnL>
                    <a:lnR w="12700" cap="flat" cmpd="sng" algn="ctr">
                      <a:solidFill>
                        <a:srgbClr val="54625B"/>
                      </a:solidFill>
                      <a:prstDash val="solid"/>
                      <a:round/>
                      <a:headEnd type="none" w="med" len="med"/>
                      <a:tailEnd type="none" w="med" len="med"/>
                    </a:lnR>
                    <a:lnT w="12700" cap="flat" cmpd="sng" algn="ctr">
                      <a:solidFill>
                        <a:srgbClr val="45544E"/>
                      </a:solidFill>
                      <a:prstDash val="solid"/>
                      <a:round/>
                      <a:headEnd type="none" w="med" len="med"/>
                      <a:tailEnd type="none" w="med" len="med"/>
                    </a:lnT>
                    <a:lnB w="12700" cap="flat" cmpd="sng" algn="ctr">
                      <a:solidFill>
                        <a:srgbClr val="54625B"/>
                      </a:solidFill>
                      <a:prstDash val="solid"/>
                      <a:round/>
                      <a:headEnd type="none" w="med" len="med"/>
                      <a:tailEnd type="none" w="med" len="med"/>
                    </a:lnB>
                    <a:solidFill>
                      <a:srgbClr val="253730"/>
                    </a:solidFill>
                  </a:tcPr>
                </a:tc>
              </a:tr>
              <a:tr h="510530">
                <a:tc>
                  <a:txBody>
                    <a:bodyPr/>
                    <a:lstStyle/>
                    <a:p>
                      <a:pPr indent="0" marL="0">
                        <a:lnSpc>
                          <a:spcPts val="2520"/>
                        </a:lnSpc>
                        <a:buNone/>
                      </a:pPr>
                      <a:r>
                        <a:rPr lang="en-US" sz="1800" dirty="0">
                          <a:solidFill>
                            <a:srgbClr val="F3EFE4"/>
                          </a:solidFill>
                          <a:latin typeface="Arial" pitchFamily="34" charset="0"/>
                          <a:ea typeface="Arial" pitchFamily="34" charset="-122"/>
                          <a:cs typeface="Arial" pitchFamily="34" charset="-120"/>
                        </a:rPr>
                        <a:t>Decision tree</a:t>
                      </a:r>
                      <a:endParaRPr lang="en-US" sz="1800" dirty="0">
                        <a:latin typeface="Arial" charset="0"/>
                        <a:ea typeface="Arial" charset="0"/>
                        <a:cs typeface="Arial" charset="0"/>
                      </a:endParaRPr>
                    </a:p>
                  </a:txBody>
                  <a:tcPr marL="88900" marR="88900" marT="88900" marB="88900" anchor="t">
                    <a:lnL w="12700" cap="flat" cmpd="sng" algn="ctr">
                      <a:solidFill>
                        <a:srgbClr val="45544E"/>
                      </a:solidFill>
                      <a:prstDash val="solid"/>
                      <a:round/>
                      <a:headEnd type="none" w="med" len="med"/>
                      <a:tailEnd type="none" w="med" len="med"/>
                    </a:lnL>
                    <a:lnR w="12700" cap="flat" cmpd="sng" algn="ctr">
                      <a:solidFill>
                        <a:srgbClr val="45544E"/>
                      </a:solidFill>
                      <a:prstDash val="solid"/>
                      <a:round/>
                      <a:headEnd type="none" w="med" len="med"/>
                      <a:tailEnd type="none" w="med" len="med"/>
                    </a:lnR>
                    <a:lnT w="12700" cap="flat" cmpd="sng" algn="ctr">
                      <a:solidFill>
                        <a:srgbClr val="54625B"/>
                      </a:solidFill>
                      <a:prstDash val="solid"/>
                      <a:round/>
                      <a:headEnd type="none" w="med" len="med"/>
                      <a:tailEnd type="none" w="med" len="med"/>
                    </a:lnT>
                    <a:lnB w="12700" cap="flat" cmpd="sng" algn="ctr">
                      <a:solidFill>
                        <a:srgbClr val="45544E"/>
                      </a:solidFill>
                      <a:prstDash val="solid"/>
                      <a:round/>
                      <a:headEnd type="none" w="med" len="med"/>
                      <a:tailEnd type="none" w="med" len="med"/>
                    </a:lnB>
                  </a:tcPr>
                </a:tc>
                <a:tc>
                  <a:txBody>
                    <a:bodyPr/>
                    <a:lstStyle/>
                    <a:p>
                      <a:pPr algn="r" indent="0" marL="0">
                        <a:lnSpc>
                          <a:spcPts val="2520"/>
                        </a:lnSpc>
                        <a:buNone/>
                      </a:pPr>
                      <a:r>
                        <a:rPr lang="en-US" sz="1800" dirty="0">
                          <a:solidFill>
                            <a:srgbClr val="F3EFE4"/>
                          </a:solidFill>
                          <a:latin typeface="Arial" pitchFamily="34" charset="0"/>
                          <a:ea typeface="Arial" pitchFamily="34" charset="-122"/>
                          <a:cs typeface="Arial" pitchFamily="34" charset="-120"/>
                        </a:rPr>
                        <a:t>37.5%</a:t>
                      </a:r>
                      <a:endParaRPr lang="en-US" sz="1800" dirty="0">
                        <a:latin typeface="Arial" charset="0"/>
                        <a:ea typeface="Arial" charset="0"/>
                        <a:cs typeface="Arial" charset="0"/>
                      </a:endParaRPr>
                    </a:p>
                  </a:txBody>
                  <a:tcPr marL="88900" marR="88900" marT="88900" marB="88900" anchor="t">
                    <a:lnL w="12700" cap="flat" cmpd="sng" algn="ctr">
                      <a:solidFill>
                        <a:srgbClr val="45544E"/>
                      </a:solidFill>
                      <a:prstDash val="solid"/>
                      <a:round/>
                      <a:headEnd type="none" w="med" len="med"/>
                      <a:tailEnd type="none" w="med" len="med"/>
                    </a:lnL>
                    <a:lnR w="12700" cap="flat" cmpd="sng" algn="ctr">
                      <a:solidFill>
                        <a:srgbClr val="45544E"/>
                      </a:solidFill>
                      <a:prstDash val="solid"/>
                      <a:round/>
                      <a:headEnd type="none" w="med" len="med"/>
                      <a:tailEnd type="none" w="med" len="med"/>
                    </a:lnR>
                    <a:lnT w="12700" cap="flat" cmpd="sng" algn="ctr">
                      <a:solidFill>
                        <a:srgbClr val="54625B"/>
                      </a:solidFill>
                      <a:prstDash val="solid"/>
                      <a:round/>
                      <a:headEnd type="none" w="med" len="med"/>
                      <a:tailEnd type="none" w="med" len="med"/>
                    </a:lnT>
                    <a:lnB w="12700" cap="flat" cmpd="sng" algn="ctr">
                      <a:solidFill>
                        <a:srgbClr val="45544E"/>
                      </a:solidFill>
                      <a:prstDash val="solid"/>
                      <a:round/>
                      <a:headEnd type="none" w="med" len="med"/>
                      <a:tailEnd type="none" w="med" len="med"/>
                    </a:lnB>
                  </a:tcPr>
                </a:tc>
              </a:tr>
              <a:tr h="510530">
                <a:tc>
                  <a:txBody>
                    <a:bodyPr/>
                    <a:lstStyle/>
                    <a:p>
                      <a:pPr indent="0" marL="0">
                        <a:lnSpc>
                          <a:spcPts val="2520"/>
                        </a:lnSpc>
                        <a:buNone/>
                      </a:pPr>
                      <a:r>
                        <a:rPr lang="en-US" sz="1800" dirty="0">
                          <a:solidFill>
                            <a:srgbClr val="F3EFE4"/>
                          </a:solidFill>
                          <a:latin typeface="Arial" pitchFamily="34" charset="0"/>
                          <a:ea typeface="Arial" pitchFamily="34" charset="-122"/>
                          <a:cs typeface="Arial" pitchFamily="34" charset="-120"/>
                        </a:rPr>
                        <a:t>Logistic regression</a:t>
                      </a:r>
                      <a:endParaRPr lang="en-US" sz="1800" dirty="0">
                        <a:latin typeface="Arial" charset="0"/>
                        <a:ea typeface="Arial" charset="0"/>
                        <a:cs typeface="Arial" charset="0"/>
                      </a:endParaRPr>
                    </a:p>
                  </a:txBody>
                  <a:tcPr marL="88900" marR="88900" marT="88900" marB="88900" anchor="t">
                    <a:lnL w="12700" cap="flat" cmpd="sng" algn="ctr">
                      <a:solidFill>
                        <a:srgbClr val="45544E"/>
                      </a:solidFill>
                      <a:prstDash val="solid"/>
                      <a:round/>
                      <a:headEnd type="none" w="med" len="med"/>
                      <a:tailEnd type="none" w="med" len="med"/>
                    </a:lnL>
                    <a:lnR w="12700" cap="flat" cmpd="sng" algn="ctr">
                      <a:solidFill>
                        <a:srgbClr val="45544E"/>
                      </a:solidFill>
                      <a:prstDash val="solid"/>
                      <a:round/>
                      <a:headEnd type="none" w="med" len="med"/>
                      <a:tailEnd type="none" w="med" len="med"/>
                    </a:lnR>
                    <a:lnT w="12700" cap="flat" cmpd="sng" algn="ctr">
                      <a:solidFill>
                        <a:srgbClr val="45544E"/>
                      </a:solidFill>
                      <a:prstDash val="solid"/>
                      <a:round/>
                      <a:headEnd type="none" w="med" len="med"/>
                      <a:tailEnd type="none" w="med" len="med"/>
                    </a:lnT>
                    <a:lnB w="12700" cap="flat" cmpd="sng" algn="ctr">
                      <a:solidFill>
                        <a:srgbClr val="45544E"/>
                      </a:solidFill>
                      <a:prstDash val="solid"/>
                      <a:round/>
                      <a:headEnd type="none" w="med" len="med"/>
                      <a:tailEnd type="none" w="med" len="med"/>
                    </a:lnB>
                  </a:tcPr>
                </a:tc>
                <a:tc>
                  <a:txBody>
                    <a:bodyPr/>
                    <a:lstStyle/>
                    <a:p>
                      <a:pPr algn="r" indent="0" marL="0">
                        <a:lnSpc>
                          <a:spcPts val="2520"/>
                        </a:lnSpc>
                        <a:buNone/>
                      </a:pPr>
                      <a:r>
                        <a:rPr lang="en-US" sz="1800" dirty="0">
                          <a:solidFill>
                            <a:srgbClr val="F3EFE4"/>
                          </a:solidFill>
                          <a:latin typeface="Arial" pitchFamily="34" charset="0"/>
                          <a:ea typeface="Arial" pitchFamily="34" charset="-122"/>
                          <a:cs typeface="Arial" pitchFamily="34" charset="-120"/>
                        </a:rPr>
                        <a:t>29.2%</a:t>
                      </a:r>
                      <a:endParaRPr lang="en-US" sz="1800" dirty="0">
                        <a:latin typeface="Arial" charset="0"/>
                        <a:ea typeface="Arial" charset="0"/>
                        <a:cs typeface="Arial" charset="0"/>
                      </a:endParaRPr>
                    </a:p>
                  </a:txBody>
                  <a:tcPr marL="88900" marR="88900" marT="88900" marB="88900" anchor="t">
                    <a:lnL w="12700" cap="flat" cmpd="sng" algn="ctr">
                      <a:solidFill>
                        <a:srgbClr val="45544E"/>
                      </a:solidFill>
                      <a:prstDash val="solid"/>
                      <a:round/>
                      <a:headEnd type="none" w="med" len="med"/>
                      <a:tailEnd type="none" w="med" len="med"/>
                    </a:lnL>
                    <a:lnR w="12700" cap="flat" cmpd="sng" algn="ctr">
                      <a:solidFill>
                        <a:srgbClr val="45544E"/>
                      </a:solidFill>
                      <a:prstDash val="solid"/>
                      <a:round/>
                      <a:headEnd type="none" w="med" len="med"/>
                      <a:tailEnd type="none" w="med" len="med"/>
                    </a:lnR>
                    <a:lnT w="12700" cap="flat" cmpd="sng" algn="ctr">
                      <a:solidFill>
                        <a:srgbClr val="45544E"/>
                      </a:solidFill>
                      <a:prstDash val="solid"/>
                      <a:round/>
                      <a:headEnd type="none" w="med" len="med"/>
                      <a:tailEnd type="none" w="med" len="med"/>
                    </a:lnT>
                    <a:lnB w="12700" cap="flat" cmpd="sng" algn="ctr">
                      <a:solidFill>
                        <a:srgbClr val="45544E"/>
                      </a:solidFill>
                      <a:prstDash val="solid"/>
                      <a:round/>
                      <a:headEnd type="none" w="med" len="med"/>
                      <a:tailEnd type="none" w="med" len="med"/>
                    </a:lnB>
                  </a:tcPr>
                </a:tc>
              </a:tr>
              <a:tr h="510530">
                <a:tc>
                  <a:txBody>
                    <a:bodyPr/>
                    <a:lstStyle/>
                    <a:p>
                      <a:pPr indent="0" marL="0">
                        <a:lnSpc>
                          <a:spcPts val="2520"/>
                        </a:lnSpc>
                        <a:buNone/>
                      </a:pPr>
                      <a:r>
                        <a:rPr lang="en-US" sz="1800" dirty="0">
                          <a:solidFill>
                            <a:srgbClr val="F3EFE4"/>
                          </a:solidFill>
                          <a:latin typeface="Arial" pitchFamily="34" charset="0"/>
                          <a:ea typeface="Arial" pitchFamily="34" charset="-122"/>
                          <a:cs typeface="Arial" pitchFamily="34" charset="-120"/>
                        </a:rPr>
                        <a:t>Random forest</a:t>
                      </a:r>
                      <a:endParaRPr lang="en-US" sz="1800" dirty="0">
                        <a:latin typeface="Arial" charset="0"/>
                        <a:ea typeface="Arial" charset="0"/>
                        <a:cs typeface="Arial" charset="0"/>
                      </a:endParaRPr>
                    </a:p>
                  </a:txBody>
                  <a:tcPr marL="88900" marR="88900" marT="88900" marB="88900" anchor="t">
                    <a:lnL w="12700" cap="flat" cmpd="sng" algn="ctr">
                      <a:solidFill>
                        <a:srgbClr val="45544E"/>
                      </a:solidFill>
                      <a:prstDash val="solid"/>
                      <a:round/>
                      <a:headEnd type="none" w="med" len="med"/>
                      <a:tailEnd type="none" w="med" len="med"/>
                    </a:lnL>
                    <a:lnR w="12700" cap="flat" cmpd="sng" algn="ctr">
                      <a:solidFill>
                        <a:srgbClr val="45544E"/>
                      </a:solidFill>
                      <a:prstDash val="solid"/>
                      <a:round/>
                      <a:headEnd type="none" w="med" len="med"/>
                      <a:tailEnd type="none" w="med" len="med"/>
                    </a:lnR>
                    <a:lnT w="12700" cap="flat" cmpd="sng" algn="ctr">
                      <a:solidFill>
                        <a:srgbClr val="45544E"/>
                      </a:solidFill>
                      <a:prstDash val="solid"/>
                      <a:round/>
                      <a:headEnd type="none" w="med" len="med"/>
                      <a:tailEnd type="none" w="med" len="med"/>
                    </a:lnT>
                    <a:lnB w="12700" cap="flat" cmpd="sng" algn="ctr">
                      <a:solidFill>
                        <a:srgbClr val="45544E"/>
                      </a:solidFill>
                      <a:prstDash val="solid"/>
                      <a:round/>
                      <a:headEnd type="none" w="med" len="med"/>
                      <a:tailEnd type="none" w="med" len="med"/>
                    </a:lnB>
                  </a:tcPr>
                </a:tc>
                <a:tc>
                  <a:txBody>
                    <a:bodyPr/>
                    <a:lstStyle/>
                    <a:p>
                      <a:pPr algn="r" indent="0" marL="0">
                        <a:lnSpc>
                          <a:spcPts val="2520"/>
                        </a:lnSpc>
                        <a:buNone/>
                      </a:pPr>
                      <a:r>
                        <a:rPr lang="en-US" sz="1800" dirty="0">
                          <a:solidFill>
                            <a:srgbClr val="F3EFE4"/>
                          </a:solidFill>
                          <a:latin typeface="Arial" pitchFamily="34" charset="0"/>
                          <a:ea typeface="Arial" pitchFamily="34" charset="-122"/>
                          <a:cs typeface="Arial" pitchFamily="34" charset="-120"/>
                        </a:rPr>
                        <a:t>25.0%</a:t>
                      </a:r>
                      <a:endParaRPr lang="en-US" sz="1800" dirty="0">
                        <a:latin typeface="Arial" charset="0"/>
                        <a:ea typeface="Arial" charset="0"/>
                        <a:cs typeface="Arial" charset="0"/>
                      </a:endParaRPr>
                    </a:p>
                  </a:txBody>
                  <a:tcPr marL="88900" marR="88900" marT="88900" marB="88900" anchor="t">
                    <a:lnL w="12700" cap="flat" cmpd="sng" algn="ctr">
                      <a:solidFill>
                        <a:srgbClr val="45544E"/>
                      </a:solidFill>
                      <a:prstDash val="solid"/>
                      <a:round/>
                      <a:headEnd type="none" w="med" len="med"/>
                      <a:tailEnd type="none" w="med" len="med"/>
                    </a:lnL>
                    <a:lnR w="12700" cap="flat" cmpd="sng" algn="ctr">
                      <a:solidFill>
                        <a:srgbClr val="45544E"/>
                      </a:solidFill>
                      <a:prstDash val="solid"/>
                      <a:round/>
                      <a:headEnd type="none" w="med" len="med"/>
                      <a:tailEnd type="none" w="med" len="med"/>
                    </a:lnR>
                    <a:lnT w="12700" cap="flat" cmpd="sng" algn="ctr">
                      <a:solidFill>
                        <a:srgbClr val="45544E"/>
                      </a:solidFill>
                      <a:prstDash val="solid"/>
                      <a:round/>
                      <a:headEnd type="none" w="med" len="med"/>
                      <a:tailEnd type="none" w="med" len="med"/>
                    </a:lnT>
                    <a:lnB w="12700" cap="flat" cmpd="sng" algn="ctr">
                      <a:solidFill>
                        <a:srgbClr val="45544E"/>
                      </a:solidFill>
                      <a:prstDash val="solid"/>
                      <a:round/>
                      <a:headEnd type="none" w="med" len="med"/>
                      <a:tailEnd type="none" w="med" len="med"/>
                    </a:lnB>
                  </a:tcPr>
                </a:tc>
              </a:tr>
              <a:tr h="510530">
                <a:tc>
                  <a:txBody>
                    <a:bodyPr/>
                    <a:lstStyle/>
                    <a:p>
                      <a:pPr indent="0" marL="0">
                        <a:lnSpc>
                          <a:spcPts val="2520"/>
                        </a:lnSpc>
                        <a:buNone/>
                      </a:pPr>
                      <a:r>
                        <a:rPr lang="en-US" sz="1800" dirty="0">
                          <a:solidFill>
                            <a:srgbClr val="F3EFE4"/>
                          </a:solidFill>
                          <a:latin typeface="Arial" pitchFamily="34" charset="0"/>
                          <a:ea typeface="Arial" pitchFamily="34" charset="-122"/>
                          <a:cs typeface="Arial" pitchFamily="34" charset="-120"/>
                        </a:rPr>
                        <a:t>Naive Bayes</a:t>
                      </a:r>
                      <a:endParaRPr lang="en-US" sz="1800" dirty="0">
                        <a:latin typeface="Arial" charset="0"/>
                        <a:ea typeface="Arial" charset="0"/>
                        <a:cs typeface="Arial" charset="0"/>
                      </a:endParaRPr>
                    </a:p>
                  </a:txBody>
                  <a:tcPr marL="88900" marR="88900" marT="88900" marB="88900" anchor="t">
                    <a:lnL w="12700" cap="flat" cmpd="sng" algn="ctr">
                      <a:solidFill>
                        <a:srgbClr val="45544E"/>
                      </a:solidFill>
                      <a:prstDash val="solid"/>
                      <a:round/>
                      <a:headEnd type="none" w="med" len="med"/>
                      <a:tailEnd type="none" w="med" len="med"/>
                    </a:lnL>
                    <a:lnR w="12700" cap="flat" cmpd="sng" algn="ctr">
                      <a:solidFill>
                        <a:srgbClr val="45544E"/>
                      </a:solidFill>
                      <a:prstDash val="solid"/>
                      <a:round/>
                      <a:headEnd type="none" w="med" len="med"/>
                      <a:tailEnd type="none" w="med" len="med"/>
                    </a:lnR>
                    <a:lnT w="12700" cap="flat" cmpd="sng" algn="ctr">
                      <a:solidFill>
                        <a:srgbClr val="45544E"/>
                      </a:solidFill>
                      <a:prstDash val="solid"/>
                      <a:round/>
                      <a:headEnd type="none" w="med" len="med"/>
                      <a:tailEnd type="none" w="med" len="med"/>
                    </a:lnT>
                    <a:lnB w="12700" cap="flat" cmpd="sng" algn="ctr">
                      <a:solidFill>
                        <a:srgbClr val="45544E"/>
                      </a:solidFill>
                      <a:prstDash val="solid"/>
                      <a:round/>
                      <a:headEnd type="none" w="med" len="med"/>
                      <a:tailEnd type="none" w="med" len="med"/>
                    </a:lnB>
                  </a:tcPr>
                </a:tc>
                <a:tc>
                  <a:txBody>
                    <a:bodyPr/>
                    <a:lstStyle/>
                    <a:p>
                      <a:pPr algn="r" indent="0" marL="0">
                        <a:lnSpc>
                          <a:spcPts val="2520"/>
                        </a:lnSpc>
                        <a:buNone/>
                      </a:pPr>
                      <a:r>
                        <a:rPr lang="en-US" sz="1800" dirty="0">
                          <a:solidFill>
                            <a:srgbClr val="F3EFE4"/>
                          </a:solidFill>
                          <a:latin typeface="Arial" pitchFamily="34" charset="0"/>
                          <a:ea typeface="Arial" pitchFamily="34" charset="-122"/>
                          <a:cs typeface="Arial" pitchFamily="34" charset="-120"/>
                        </a:rPr>
                        <a:t>16.7%</a:t>
                      </a:r>
                      <a:endParaRPr lang="en-US" sz="1800" dirty="0">
                        <a:latin typeface="Arial" charset="0"/>
                        <a:ea typeface="Arial" charset="0"/>
                        <a:cs typeface="Arial" charset="0"/>
                      </a:endParaRPr>
                    </a:p>
                  </a:txBody>
                  <a:tcPr marL="88900" marR="88900" marT="88900" marB="88900" anchor="t">
                    <a:lnL w="12700" cap="flat" cmpd="sng" algn="ctr">
                      <a:solidFill>
                        <a:srgbClr val="45544E"/>
                      </a:solidFill>
                      <a:prstDash val="solid"/>
                      <a:round/>
                      <a:headEnd type="none" w="med" len="med"/>
                      <a:tailEnd type="none" w="med" len="med"/>
                    </a:lnL>
                    <a:lnR w="12700" cap="flat" cmpd="sng" algn="ctr">
                      <a:solidFill>
                        <a:srgbClr val="45544E"/>
                      </a:solidFill>
                      <a:prstDash val="solid"/>
                      <a:round/>
                      <a:headEnd type="none" w="med" len="med"/>
                      <a:tailEnd type="none" w="med" len="med"/>
                    </a:lnR>
                    <a:lnT w="12700" cap="flat" cmpd="sng" algn="ctr">
                      <a:solidFill>
                        <a:srgbClr val="45544E"/>
                      </a:solidFill>
                      <a:prstDash val="solid"/>
                      <a:round/>
                      <a:headEnd type="none" w="med" len="med"/>
                      <a:tailEnd type="none" w="med" len="med"/>
                    </a:lnT>
                    <a:lnB w="12700" cap="flat" cmpd="sng" algn="ctr">
                      <a:solidFill>
                        <a:srgbClr val="45544E"/>
                      </a:solidFill>
                      <a:prstDash val="solid"/>
                      <a:round/>
                      <a:headEnd type="none" w="med" len="med"/>
                      <a:tailEnd type="none" w="med" len="med"/>
                    </a:lnB>
                  </a:tcPr>
                </a:tc>
              </a:tr>
              <a:tr h="510530">
                <a:tc>
                  <a:txBody>
                    <a:bodyPr/>
                    <a:lstStyle/>
                    <a:p>
                      <a:pPr indent="0" marL="0">
                        <a:lnSpc>
                          <a:spcPts val="2520"/>
                        </a:lnSpc>
                        <a:buNone/>
                      </a:pPr>
                      <a:r>
                        <a:rPr lang="en-US" sz="1800" dirty="0">
                          <a:solidFill>
                            <a:srgbClr val="F3EFE4"/>
                          </a:solidFill>
                          <a:latin typeface="Arial" pitchFamily="34" charset="0"/>
                          <a:ea typeface="Arial" pitchFamily="34" charset="-122"/>
                          <a:cs typeface="Arial" pitchFamily="34" charset="-120"/>
                        </a:rPr>
                        <a:t>Markov model</a:t>
                      </a:r>
                      <a:endParaRPr lang="en-US" sz="1800" dirty="0">
                        <a:latin typeface="Arial" charset="0"/>
                        <a:ea typeface="Arial" charset="0"/>
                        <a:cs typeface="Arial" charset="0"/>
                      </a:endParaRPr>
                    </a:p>
                  </a:txBody>
                  <a:tcPr marL="88900" marR="88900" marT="88900" marB="88900" anchor="t">
                    <a:lnL w="12700" cap="flat" cmpd="sng" algn="ctr">
                      <a:solidFill>
                        <a:srgbClr val="45544E"/>
                      </a:solidFill>
                      <a:prstDash val="solid"/>
                      <a:round/>
                      <a:headEnd type="none" w="med" len="med"/>
                      <a:tailEnd type="none" w="med" len="med"/>
                    </a:lnL>
                    <a:lnR w="12700" cap="flat" cmpd="sng" algn="ctr">
                      <a:solidFill>
                        <a:srgbClr val="45544E"/>
                      </a:solidFill>
                      <a:prstDash val="solid"/>
                      <a:round/>
                      <a:headEnd type="none" w="med" len="med"/>
                      <a:tailEnd type="none" w="med" len="med"/>
                    </a:lnR>
                    <a:lnT w="12700" cap="flat" cmpd="sng" algn="ctr">
                      <a:solidFill>
                        <a:srgbClr val="45544E"/>
                      </a:solidFill>
                      <a:prstDash val="solid"/>
                      <a:round/>
                      <a:headEnd type="none" w="med" len="med"/>
                      <a:tailEnd type="none" w="med" len="med"/>
                    </a:lnT>
                    <a:lnB w="12700" cap="flat" cmpd="sng" algn="ctr">
                      <a:solidFill>
                        <a:srgbClr val="45544E"/>
                      </a:solidFill>
                      <a:prstDash val="solid"/>
                      <a:round/>
                      <a:headEnd type="none" w="med" len="med"/>
                      <a:tailEnd type="none" w="med" len="med"/>
                    </a:lnB>
                  </a:tcPr>
                </a:tc>
                <a:tc>
                  <a:txBody>
                    <a:bodyPr/>
                    <a:lstStyle/>
                    <a:p>
                      <a:pPr algn="r" indent="0" marL="0">
                        <a:lnSpc>
                          <a:spcPts val="2520"/>
                        </a:lnSpc>
                        <a:buNone/>
                      </a:pPr>
                      <a:r>
                        <a:rPr lang="en-US" sz="1800" dirty="0">
                          <a:solidFill>
                            <a:srgbClr val="F3EFE4"/>
                          </a:solidFill>
                          <a:latin typeface="Arial" pitchFamily="34" charset="0"/>
                          <a:ea typeface="Arial" pitchFamily="34" charset="-122"/>
                          <a:cs typeface="Arial" pitchFamily="34" charset="-120"/>
                        </a:rPr>
                        <a:t>4.2%</a:t>
                      </a:r>
                      <a:endParaRPr lang="en-US" sz="1800" dirty="0">
                        <a:latin typeface="Arial" charset="0"/>
                        <a:ea typeface="Arial" charset="0"/>
                        <a:cs typeface="Arial" charset="0"/>
                      </a:endParaRPr>
                    </a:p>
                  </a:txBody>
                  <a:tcPr marL="88900" marR="88900" marT="88900" marB="88900" anchor="t">
                    <a:lnL w="12700" cap="flat" cmpd="sng" algn="ctr">
                      <a:solidFill>
                        <a:srgbClr val="45544E"/>
                      </a:solidFill>
                      <a:prstDash val="solid"/>
                      <a:round/>
                      <a:headEnd type="none" w="med" len="med"/>
                      <a:tailEnd type="none" w="med" len="med"/>
                    </a:lnL>
                    <a:lnR w="12700" cap="flat" cmpd="sng" algn="ctr">
                      <a:solidFill>
                        <a:srgbClr val="45544E"/>
                      </a:solidFill>
                      <a:prstDash val="solid"/>
                      <a:round/>
                      <a:headEnd type="none" w="med" len="med"/>
                      <a:tailEnd type="none" w="med" len="med"/>
                    </a:lnR>
                    <a:lnT w="12700" cap="flat" cmpd="sng" algn="ctr">
                      <a:solidFill>
                        <a:srgbClr val="45544E"/>
                      </a:solidFill>
                      <a:prstDash val="solid"/>
                      <a:round/>
                      <a:headEnd type="none" w="med" len="med"/>
                      <a:tailEnd type="none" w="med" len="med"/>
                    </a:lnT>
                    <a:lnB w="12700" cap="flat" cmpd="sng" algn="ctr">
                      <a:solidFill>
                        <a:srgbClr val="45544E"/>
                      </a:solidFill>
                      <a:prstDash val="solid"/>
                      <a:round/>
                      <a:headEnd type="none" w="med" len="med"/>
                      <a:tailEnd type="none" w="med" len="med"/>
                    </a:lnB>
                  </a:tcPr>
                </a:tc>
              </a:tr>
            </a:tbl>
          </a:graphicData>
        </a:graphic>
      </p:graphicFrame>
      <p:sp>
        <p:nvSpPr>
          <p:cNvPr id="8" name="Text 5"/>
          <p:cNvSpPr/>
          <p:nvPr/>
        </p:nvSpPr>
        <p:spPr>
          <a:xfrm>
            <a:off x="812800" y="5158680"/>
            <a:ext cx="10883392"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C9D3CC"/>
                </a:solidFill>
                <a:latin typeface="Arial" pitchFamily="34" charset="0"/>
                <a:ea typeface="Arial" pitchFamily="34" charset="-122"/>
                <a:cs typeface="Arial" pitchFamily="34" charset="-120"/>
              </a:rPr>
              <a:t>Chance is 4.3%. Only Markov failed to beat it. Hunters then won 19 of 20 games.</a:t>
            </a:r>
            <a:endParaRPr lang="en-US" sz="2000" dirty="0"/>
          </a:p>
        </p:txBody>
      </p:sp>
      <p:sp>
        <p:nvSpPr>
          <p:cNvPr id="9" name="Text 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FB0A6"/>
                </a:solidFill>
                <a:latin typeface="Arial" pitchFamily="34" charset="0"/>
                <a:ea typeface="Arial" pitchFamily="34" charset="-122"/>
                <a:cs typeface="Arial" pitchFamily="34" charset="-120"/>
              </a:rPr>
              <a:t>12 / 12</a:t>
            </a:r>
            <a:endParaRPr lang="en-US" sz="1200" dirty="0"/>
          </a:p>
        </p:txBody>
      </p:sp>
    </p:spTree>
  </p:cSld>
  <p:clrMapOvr>
    <a:masterClrMapping/>
  </p:clrMapOvr>
</p:sld>
</file>

<file path=ppt/theme/theme1.xml><?xml version="1.0" encoding="utf-8"?>
<a:theme xmlns:a="http://schemas.openxmlformats.org/drawingml/2006/main" name="Prey vs Predators – Final Presentation">
  <a:themeElements>
    <a:clrScheme name="Prey vs Predators – Final Presentation">
      <a:dk1>
        <a:srgbClr val="12261F"/>
      </a:dk1>
      <a:lt1>
        <a:srgbClr val="F3EFE4"/>
      </a:lt1>
      <a:dk2>
        <a:srgbClr val="293A33"/>
      </a:dk2>
      <a:lt2>
        <a:srgbClr val="BBBDB3"/>
      </a:lt2>
      <a:accent1>
        <a:srgbClr val="F0883E"/>
      </a:accent1>
      <a:accent2>
        <a:srgbClr val="5FC4B0"/>
      </a:accent2>
      <a:accent3>
        <a:srgbClr val="2F9C88"/>
      </a:accent3>
      <a:accent4>
        <a:srgbClr val="E9C46A"/>
      </a:accent4>
      <a:accent5>
        <a:srgbClr val="B8A1FF"/>
      </a:accent5>
      <a:accent6>
        <a:srgbClr val="9FD6E0"/>
      </a:accent6>
      <a:hlink>
        <a:srgbClr val="0563C1"/>
      </a:hlink>
      <a:folHlink>
        <a:srgbClr val="954F72"/>
      </a:folHlink>
    </a:clrScheme>
    <a:fontScheme name="Prey vs Predators – Final Presentation">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Prey vs Predators – Final Presentation</dc:title>
  <dc:subject/>
  <dc:creator/>
  <cp:lastModifiedBy/>
  <cp:revision>1</cp:revision>
  <dcterms:created xsi:type="dcterms:W3CDTF">2026-10-02T19:50:29Z</dcterms:created>
  <dcterms:modified xsi:type="dcterms:W3CDTF">2026-10-02T19:50:29Z</dcterms:modified>
</cp:coreProperties>
</file>