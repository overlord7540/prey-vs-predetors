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8B9AAB"/>
                </a:solidFill>
                <a:latin typeface="Calibri"/>
              </a:rPr>
              <a:t>CSE 3812  ·  AI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E8EEF4"/>
                </a:solidFill>
                <a:latin typeface="Calibri"/>
              </a:rPr>
              <a:t>Predator &amp; Prey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8B9AAB"/>
                </a:solidFill>
                <a:latin typeface="Calibri"/>
              </a:rPr>
              <a:t>Grid-based tactical AI simulation — predators hunt, prey forage, win by elimination or resource control.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931920"/>
            <a:ext cx="2651760" cy="137160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solidFill>
              <a:srgbClr val="2A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D9CF0"/>
                </a:solidFill>
                <a:latin typeface="Calibri"/>
              </a:rPr>
              <a:t>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26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E8EEF4"/>
                </a:solidFill>
                <a:latin typeface="Calibri"/>
              </a:rPr>
              <a:t>BFS · A*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3931920"/>
            <a:ext cx="2651760" cy="137160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solidFill>
              <a:srgbClr val="2A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D9CF0"/>
                </a:solidFill>
                <a:latin typeface="Calibri"/>
              </a:rPr>
              <a:t>Behavior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4526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E8EEF4"/>
                </a:solidFill>
                <a:latin typeface="Calibri"/>
              </a:rPr>
              <a:t>FSM · Intents · Fcost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2651760" cy="137160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solidFill>
              <a:srgbClr val="2A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D9CF0"/>
                </a:solidFill>
                <a:latin typeface="Calibri"/>
              </a:rPr>
              <a:t>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26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E8EEF4"/>
                </a:solidFill>
                <a:latin typeface="Calibri"/>
              </a:rPr>
              <a:t>Turns · Combat · Occupancy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3931920"/>
            <a:ext cx="2651760" cy="137160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solidFill>
              <a:srgbClr val="2A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D9CF0"/>
                </a:solidFill>
                <a:latin typeface="Calibri"/>
              </a:rPr>
              <a:t>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526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E8EEF4"/>
                </a:solidFill>
                <a:latin typeface="Calibri"/>
              </a:rPr>
              <a:t>Full awareness (v1)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D9CF0"/>
                </a:solidFill>
                <a:latin typeface="Calibri"/>
              </a:rPr>
              <a:t>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347472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solidFill>
              <a:srgbClr val="2A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F00"/>
                </a:solidFill>
                <a:latin typeface="Calibri"/>
              </a:rPr>
              <a:t>PREDATORS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8EEF4"/>
                </a:solidFill>
                <a:latin typeface="Calibri"/>
              </a:rPr>
              <a:t>Eliminate ≥ 70% of prey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8B9AAB"/>
                </a:solidFill>
                <a:latin typeface="Calibri"/>
              </a:rPr>
              <a:t>Tiger (one-shot)  ·  Wolves (damage + cooldown)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80160"/>
            <a:ext cx="5303520" cy="347472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solidFill>
              <a:srgbClr val="2A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463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BCD4"/>
                </a:solidFill>
                <a:latin typeface="Calibri"/>
              </a:rPr>
              <a:t>PREY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8EEF4"/>
                </a:solidFill>
                <a:latin typeface="Calibri"/>
              </a:rPr>
              <a:t>Consume ≥ 65% of food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9260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8B9AAB"/>
                </a:solidFill>
                <a:latin typeface="Calibri"/>
              </a:rPr>
              <a:t>Deer herds  ·  shared goals  ·  flee under threat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8B9AAB"/>
                </a:solidFill>
                <a:latin typeface="Calibri"/>
              </a:rPr>
              <a:t>Alternating team turns  ·  Predators first each round  ·  20×20 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D9CF0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D9CF0"/>
                </a:solidFill>
                <a:latin typeface="Calibri"/>
              </a:rPr>
              <a:t>config/*.json  →  data/loader  →  core (rules)  →  ai (decisions)  →  rendering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611880" cy="320040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solidFill>
              <a:srgbClr val="2A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D9CF0"/>
                </a:solidFill>
                <a:latin typeface="Calibri"/>
              </a:rPr>
              <a:t>core/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3464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8EEF4"/>
                </a:solidFill>
                <a:latin typeface="Calibri"/>
              </a:rPr>
              <a:t>Grid · Agents · Combat · Simulation · Scenario</a:t>
            </a:r>
          </a:p>
          <a:p>
            <a:r>
              <a:rPr sz="1600" b="0">
                <a:solidFill>
                  <a:srgbClr val="E8EEF4"/>
                </a:solidFill>
                <a:latin typeface="Calibri"/>
              </a:rPr>
              <a:t>No Pygame — headless + tested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11680"/>
            <a:ext cx="3611880" cy="320040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solidFill>
              <a:srgbClr val="2A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240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D9CF0"/>
                </a:solidFill>
                <a:latin typeface="Calibri"/>
              </a:rPr>
              <a:t>ai/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83464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8EEF4"/>
                </a:solidFill>
                <a:latin typeface="Calibri"/>
              </a:rPr>
              <a:t>BFS · A* · Fcost · FSM · FoV (ready) · Influence (stub)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011680"/>
            <a:ext cx="3611880" cy="320040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solidFill>
              <a:srgbClr val="2A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2240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D9CF0"/>
                </a:solidFill>
                <a:latin typeface="Calibri"/>
              </a:rPr>
              <a:t>rendering/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83464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8EEF4"/>
                </a:solidFill>
                <a:latin typeface="Calibri"/>
              </a:rPr>
              <a:t>Pygame view only — never mutates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D9CF0"/>
                </a:solidFill>
                <a:latin typeface="Calibri"/>
              </a:rPr>
              <a:t>Map &amp; Units (live render)</a:t>
            </a:r>
          </a:p>
        </p:txBody>
      </p:sp>
      <p:pic>
        <p:nvPicPr>
          <p:cNvPr id="4" name="Picture 3" descr="01_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498079" cy="63376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E8EEF4"/>
                </a:solidFill>
                <a:latin typeface="Calibri"/>
              </a:rPr>
              <a:t>•  River + 2 chokepoints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E8EEF4"/>
                </a:solidFill>
                <a:latin typeface="Calibri"/>
              </a:rPr>
              <a:t>•  3 feeding grounds · resource nodes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E8EEF4"/>
                </a:solidFill>
                <a:latin typeface="Calibri"/>
              </a:rPr>
              <a:t>•  Rocks block movement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E8EEF4"/>
                </a:solidFill>
                <a:latin typeface="Calibri"/>
              </a:rPr>
              <a:t>•  T Tiger · W Wolves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E8EEF4"/>
                </a:solidFill>
                <a:latin typeface="Calibri"/>
              </a:rPr>
              <a:t>•  D 6 deer · 3 herds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D9CF0"/>
                </a:solidFill>
                <a:latin typeface="Calibri"/>
              </a:rPr>
              <a:t>Core Workflow — One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D9CF0"/>
                </a:solidFill>
                <a:latin typeface="Calibri"/>
              </a:rPr>
              <a:t>Predator turn  →  move + attack  →  Prey turn  →  move + feed  →  Win check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394960" cy="347472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solidFill>
              <a:srgbClr val="2A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B9AAB"/>
                </a:solidFill>
                <a:latin typeface="Calibri"/>
              </a:rPr>
              <a:t>HARD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E8EEF4"/>
                </a:solidFill>
                <a:latin typeface="Calibri"/>
              </a:rPr>
              <a:t>•  No shared tiles (occupancy)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EF4"/>
                </a:solidFill>
                <a:latin typeface="Calibri"/>
              </a:rPr>
              <a:t>•  Moves sequential · adjacent only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EF4"/>
                </a:solidFill>
                <a:latin typeface="Calibri"/>
              </a:rPr>
              <a:t>•  Predators attack from next tile — never stack on prey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394960" cy="347472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solidFill>
              <a:srgbClr val="2A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B9AAB"/>
                </a:solidFill>
                <a:latin typeface="Calibri"/>
              </a:rPr>
              <a:t>DYNAMIC EACH TURN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65176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E8EEF4"/>
                </a:solidFill>
                <a:latin typeface="Calibri"/>
              </a:rPr>
              <a:t>•  Positions · HP · food stock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EF4"/>
                </a:solidFill>
                <a:latin typeface="Calibri"/>
              </a:rPr>
              <a:t>•  Prey state · wolf cooldown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EF4"/>
                </a:solidFill>
                <a:latin typeface="Calibri"/>
              </a:rPr>
              <a:t>•  Flock food goal · events · winner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D9CF0"/>
                </a:solidFill>
                <a:latin typeface="Calibri"/>
              </a:rPr>
              <a:t>Mid-Game State</a:t>
            </a:r>
          </a:p>
        </p:txBody>
      </p:sp>
      <p:pic>
        <p:nvPicPr>
          <p:cNvPr id="4" name="Picture 3" descr="02_midg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498079" cy="63376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164592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E8EEF4"/>
                </a:solidFill>
                <a:latin typeface="Calibri"/>
              </a:rPr>
              <a:t>•  Herds split across feeding areas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EF4"/>
                </a:solidFill>
                <a:latin typeface="Calibri"/>
              </a:rPr>
              <a:t>•  Brown tiles = depleted food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EF4"/>
                </a:solidFill>
                <a:latin typeface="Calibri"/>
              </a:rPr>
              <a:t>•  Same rules in Fast &amp; Detailed playback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EF4"/>
                </a:solidFill>
                <a:latin typeface="Calibri"/>
              </a:rPr>
              <a:t>•  Screenshot from real Renderer + Simulation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D9CF0"/>
                </a:solidFill>
                <a:latin typeface="Calibri"/>
              </a:rPr>
              <a:t>Algorithms — Search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64240" cy="329184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solidFill>
              <a:srgbClr val="2A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8B9AAB"/>
                </a:solidFill>
                <a:latin typeface="Calibri"/>
              </a:rPr>
              <a:t>Algo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8B9AAB"/>
                </a:solidFill>
                <a:latin typeface="Calibri"/>
              </a:rPr>
              <a:t>Where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8B9AAB"/>
                </a:solidFill>
                <a:latin typeface="Calibri"/>
              </a:rPr>
              <a:t>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D9CF0"/>
                </a:solidFill>
                <a:latin typeface="Calibri"/>
              </a:rPr>
              <a:t>BFS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9202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EEF4"/>
                </a:solidFill>
                <a:latin typeface="Calibri"/>
              </a:rPr>
              <a:t>Nearest food · flock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9202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EEF4"/>
                </a:solidFill>
                <a:latin typeface="Calibri"/>
              </a:rPr>
              <a:t>Unweighted shortest reach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97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D9CF0"/>
                </a:solidFill>
                <a:latin typeface="Calibri"/>
              </a:rPr>
              <a:t>A*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6974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EEF4"/>
                </a:solidFill>
                <a:latin typeface="Calibri"/>
              </a:rPr>
              <a:t>Prey NORMAL · predator intents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6974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EEF4"/>
                </a:solidFill>
                <a:latin typeface="Calibri"/>
              </a:rPr>
              <a:t>Path with Chebyshev heuristic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74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D9CF0"/>
                </a:solidFill>
                <a:latin typeface="Calibri"/>
              </a:rPr>
              <a:t>Chebyshev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4747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EEF4"/>
                </a:solidFill>
                <a:latin typeface="Calibri"/>
              </a:rPr>
              <a:t>Everywhere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4747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EEF4"/>
                </a:solidFill>
                <a:latin typeface="Calibri"/>
              </a:rPr>
              <a:t>8-dir distance · adjacency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54880"/>
            <a:ext cx="11064240" cy="118872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solidFill>
              <a:srgbClr val="2A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892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8EEF4"/>
                </a:solidFill>
                <a:latin typeface="Calibri"/>
              </a:rPr>
              <a:t>A*:   f = g + h     |     h = max(|Δr|, |Δc|)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8B9AAB"/>
                </a:solidFill>
                <a:latin typeface="Calibri"/>
              </a:rPr>
              <a:t>Take only the next step each turn — replan next round.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D9CF0"/>
                </a:solidFill>
                <a:latin typeface="Calibri"/>
              </a:rPr>
              <a:t>Predator Intents (rolled once)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611880" cy="329184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solidFill>
              <a:srgbClr val="2A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3D9CF0"/>
                </a:solidFill>
                <a:latin typeface="Calibri"/>
              </a:rPr>
              <a:t>Chase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EEF4"/>
                </a:solidFill>
                <a:latin typeface="Calibri"/>
              </a:rPr>
              <a:t>A* toward closest prey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576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8B9AAB"/>
                </a:solidFill>
                <a:latin typeface="Calibri"/>
              </a:rPr>
              <a:t>Also after tiger's first kill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611880" cy="329184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solidFill>
              <a:srgbClr val="2A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00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3D9CF0"/>
                </a:solidFill>
                <a:latin typeface="Calibri"/>
              </a:rPr>
              <a:t>Ambush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EEF4"/>
                </a:solidFill>
                <a:latin typeface="Calibri"/>
              </a:rPr>
              <a:t>A* to midpoint(prey, prey's food)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6576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8B9AAB"/>
                </a:solidFill>
                <a:latin typeface="Calibri"/>
              </a:rPr>
              <a:t>Wolf bias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611880" cy="329184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solidFill>
              <a:srgbClr val="2A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600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3D9CF0"/>
                </a:solidFill>
                <a:latin typeface="Calibri"/>
              </a:rPr>
              <a:t>Camp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286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EEF4"/>
                </a:solidFill>
                <a:latin typeface="Calibri"/>
              </a:rPr>
              <a:t>Wait opposite side of river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6576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8B9AAB"/>
                </a:solidFill>
                <a:latin typeface="Calibri"/>
              </a:rPr>
              <a:t>If prey &lt; 3 tiles → close in · Tiger bias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E8EEF4"/>
                </a:solidFill>
                <a:latin typeface="Calibri"/>
              </a:rPr>
              <a:t>Target = closest living prey · recomputed every move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D9CF0"/>
                </a:solidFill>
                <a:latin typeface="Calibri"/>
              </a:rPr>
              <a:t>Prey FSM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D9CF0"/>
                </a:solidFill>
                <a:latin typeface="Calibri"/>
              </a:rPr>
              <a:t>NORMAL  →  PANIC  →  DESPAIR  →  NORMAL if predator &gt;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611880" cy="274320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solidFill>
              <a:srgbClr val="2A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BCD4"/>
                </a:solidFill>
                <a:latin typeface="Calibri"/>
              </a:rPr>
              <a:t>NORMAL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8EEF4"/>
                </a:solidFill>
                <a:latin typeface="Calibri"/>
              </a:rPr>
              <a:t>Shared flock food goal · A* · eat underfoot if safe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611880" cy="274320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solidFill>
              <a:srgbClr val="2A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0574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BCD4"/>
                </a:solidFill>
                <a:latin typeface="Calibri"/>
              </a:rPr>
              <a:t>PANIC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974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8EEF4"/>
                </a:solidFill>
                <a:latin typeface="Calibri"/>
              </a:rPr>
              <a:t>Flee + still prefer food (fcost)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828800"/>
            <a:ext cx="3611880" cy="274320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solidFill>
              <a:srgbClr val="2A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20574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BCD4"/>
                </a:solidFill>
                <a:latin typeface="Calibri"/>
              </a:rPr>
              <a:t>DESPAIR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6974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8EEF4"/>
                </a:solidFill>
                <a:latin typeface="Calibri"/>
              </a:rPr>
              <a:t>Flee + regroup flock · no food term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8B9AAB"/>
                </a:solidFill>
                <a:latin typeface="Calibri"/>
              </a:rPr>
              <a:t>Despair triggers on kill · Panic scoring implemented · spotting trigger = Phase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D9CF0"/>
                </a:solidFill>
                <a:latin typeface="Calibri"/>
              </a:rPr>
              <a:t>Fcost ≠ A*'s 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94960" cy="329184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solidFill>
              <a:srgbClr val="2A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B9AAB"/>
                </a:solidFill>
                <a:latin typeface="Calibri"/>
              </a:rPr>
              <a:t>WHAT IT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E8EEF4"/>
                </a:solidFill>
                <a:latin typeface="Calibri"/>
              </a:rPr>
              <a:t>Local rank score over ≤8 neighbors (+ stay)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D9CF0"/>
                </a:solidFill>
                <a:latin typeface="Calibri"/>
              </a:rPr>
              <a:t>best gets N … worst gets 1</a:t>
            </a:r>
          </a:p>
          <a:p>
            <a:r>
              <a:rPr sz="1800" b="1">
                <a:solidFill>
                  <a:srgbClr val="3D9CF0"/>
                </a:solidFill>
                <a:latin typeface="Calibri"/>
              </a:rPr>
              <a:t>fcost = sum of ranks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94960" cy="329184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solidFill>
              <a:srgbClr val="2A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B9AAB"/>
                </a:solidFill>
                <a:latin typeface="Calibri"/>
              </a:rPr>
              <a:t>FORMULAS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EEF4"/>
                </a:solidFill>
                <a:latin typeface="Calibri"/>
              </a:rPr>
              <a:t>Panic: away from predator + toward food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0175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EEF4"/>
                </a:solidFill>
                <a:latin typeface="Calibri"/>
              </a:rPr>
              <a:t>Despair: away from predator + toward mate (unless already ≤2)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8B9AAB"/>
                </a:solidFill>
                <a:latin typeface="Calibri"/>
              </a:rPr>
              <a:t>A* = global path to a goal    ·    Fcost = one emergency step under fear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D9CF0"/>
                </a:solidFill>
                <a:latin typeface="Calibri"/>
              </a:rPr>
              <a:t>Combat &amp; Events</a:t>
            </a:r>
          </a:p>
        </p:txBody>
      </p:sp>
      <p:pic>
        <p:nvPicPr>
          <p:cNvPr id="4" name="Picture 3" descr="04_kill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315200" cy="61830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E8EEF4"/>
                </a:solidFill>
                <a:latin typeface="Calibri"/>
              </a:rPr>
              <a:t>•  Adjacent after move → attack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EF4"/>
                </a:solidFill>
                <a:latin typeface="Calibri"/>
              </a:rPr>
              <a:t>•  Tiger one-shots · Wolf 60 dmg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EF4"/>
                </a:solidFill>
                <a:latin typeface="Calibri"/>
              </a:rPr>
              <a:t>•  Wolf skips attacks 1 full turn after kill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EF4"/>
                </a:solidFill>
                <a:latin typeface="Calibri"/>
              </a:rPr>
              <a:t>•  KILL / EMPTY FX + sidebar log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D9CF0"/>
                </a:solidFill>
                <a:latin typeface="Calibri"/>
              </a:rPr>
              <a:t>Vision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64240" cy="146304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solidFill>
              <a:srgbClr val="2A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8EEF4"/>
                </a:solidFill>
                <a:latin typeface="Calibri"/>
              </a:rPr>
              <a:t>v1 = Full awareness — whole map known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8B9AAB"/>
                </a:solidFill>
                <a:latin typeface="Calibri"/>
              </a:rPr>
              <a:t>No fog of war in the live turn loop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17520"/>
            <a:ext cx="5394960" cy="256032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solidFill>
              <a:srgbClr val="2A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C107"/>
                </a:solidFill>
                <a:latin typeface="Calibri"/>
              </a:rPr>
              <a:t>READY, NOT WIRED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39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8EEF4"/>
                </a:solidFill>
                <a:latin typeface="Calibri"/>
              </a:rPr>
              <a:t>•  src/ai/fov.py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EF4"/>
                </a:solidFill>
                <a:latin typeface="Calibri"/>
              </a:rPr>
              <a:t>•  Rocks block Bresenham LoS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EF4"/>
                </a:solidFill>
                <a:latin typeface="Calibri"/>
              </a:rPr>
              <a:t>•  Tall grass hides past 3 tiles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017520"/>
            <a:ext cx="5394960" cy="256032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solidFill>
              <a:srgbClr val="2A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6BB6A"/>
                </a:solidFill>
                <a:latin typeface="Calibri"/>
              </a:rPr>
              <a:t>DEFEND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8404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EEF4"/>
                </a:solidFill>
                <a:latin typeface="Calibri"/>
              </a:rPr>
              <a:t>Deterministic chase &amp; tests first. LoS is an optional harder mode per GDD.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D9CF0"/>
                </a:solidFill>
                <a:latin typeface="Calibri"/>
              </a:rPr>
              <a:t>CSP?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64240" cy="128016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solidFill>
              <a:srgbClr val="2A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C107"/>
                </a:solidFill>
                <a:latin typeface="Calibri"/>
              </a:rPr>
              <a:t>Not used — current AI = search + FSM + local scoring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34640"/>
            <a:ext cx="5394960" cy="274320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solidFill>
              <a:srgbClr val="2A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B9AAB"/>
                </a:solidFill>
                <a:latin typeface="Calibri"/>
              </a:rPr>
              <a:t>WHERE CSP COULD 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E8EEF4"/>
                </a:solidFill>
                <a:latin typeface="Calibri"/>
              </a:rPr>
              <a:t>•  Legal spawn layouts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EF4"/>
                </a:solidFill>
                <a:latin typeface="Calibri"/>
              </a:rPr>
              <a:t>•  Simultaneous herd next-tiles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EF4"/>
                </a:solidFill>
                <a:latin typeface="Calibri"/>
              </a:rPr>
              <a:t>•  Wolf pack spacing assignment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834640"/>
            <a:ext cx="5394960" cy="274320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solidFill>
              <a:srgbClr val="2A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6BB6A"/>
                </a:solidFill>
                <a:latin typeface="Calibri"/>
              </a:rPr>
              <a:t>WHAT WE DO INSTEAD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749039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EEF4"/>
                </a:solidFill>
                <a:latin typeface="Calibri"/>
              </a:rPr>
              <a:t>Sequential moves + hard occupancy checks = constraints enforced, not a CSP solver.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D9CF0"/>
                </a:solidFill>
                <a:latin typeface="Calibri"/>
              </a:rPr>
              <a:t>Detailed Playback</a:t>
            </a:r>
          </a:p>
        </p:txBody>
      </p:sp>
      <p:pic>
        <p:nvPicPr>
          <p:cNvPr id="4" name="Picture 3" descr="03_detail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315200" cy="61830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E8EEF4"/>
                </a:solidFill>
                <a:latin typeface="Calibri"/>
              </a:rPr>
              <a:t>•  One unit action per tick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EF4"/>
                </a:solidFill>
                <a:latin typeface="Calibri"/>
              </a:rPr>
              <a:t>•  Active unit highlighted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EF4"/>
                </a:solidFill>
                <a:latin typeface="Calibri"/>
              </a:rPr>
              <a:t>•  Fast mode = full round / tick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EF4"/>
                </a:solidFill>
                <a:latin typeface="Calibri"/>
              </a:rPr>
              <a:t>•  Identical outcomes (tested)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D9CF0"/>
                </a:solidFill>
                <a:latin typeface="Calibri"/>
              </a:rPr>
              <a:t>Foraging &amp; Depletion</a:t>
            </a:r>
          </a:p>
        </p:txBody>
      </p:sp>
      <p:pic>
        <p:nvPicPr>
          <p:cNvPr id="4" name="Picture 3" descr="05_feeding_deple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315200" cy="61830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E8EEF4"/>
                </a:solidFill>
                <a:latin typeface="Calibri"/>
              </a:rPr>
              <a:t>•  Eat underfoot when safe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EF4"/>
                </a:solidFill>
                <a:latin typeface="Calibri"/>
              </a:rPr>
              <a:t>•  Blocked goal → BFS other food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EF4"/>
                </a:solidFill>
                <a:latin typeface="Calibri"/>
              </a:rPr>
              <a:t>•  Depleted = brown · still passable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EF4"/>
                </a:solidFill>
                <a:latin typeface="Calibri"/>
              </a:rPr>
              <a:t>•  Prey win at 65% pool eaten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D9CF0"/>
                </a:solidFill>
                <a:latin typeface="Calibri"/>
              </a:rPr>
              <a:t>Debug Overlay</a:t>
            </a:r>
          </a:p>
        </p:txBody>
      </p:sp>
      <p:pic>
        <p:nvPicPr>
          <p:cNvPr id="4" name="Picture 3" descr="06_debug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315200" cy="61830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82880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E8EEF4"/>
                </a:solidFill>
                <a:latin typeface="Calibri"/>
              </a:rPr>
              <a:t>•  F1 — intents + prey states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EF4"/>
                </a:solidFill>
                <a:latin typeface="Calibri"/>
              </a:rPr>
              <a:t>•  Shows Chase / Ambush / Camp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EF4"/>
                </a:solidFill>
                <a:latin typeface="Calibri"/>
              </a:rPr>
              <a:t>•  Shows N / P / D state letter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D9CF0"/>
                </a:solidFill>
                <a:latin typeface="Calibri"/>
              </a:rPr>
              <a:t>End State</a:t>
            </a:r>
          </a:p>
        </p:txBody>
      </p:sp>
      <p:pic>
        <p:nvPicPr>
          <p:cNvPr id="4" name="Picture 3" descr="07_endg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315200" cy="61830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82880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E8EEF4"/>
                </a:solidFill>
                <a:latin typeface="Calibri"/>
              </a:rPr>
              <a:t>•  Winner set when threshold hit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EF4"/>
                </a:solidFill>
                <a:latin typeface="Calibri"/>
              </a:rPr>
              <a:t>•  Sample balance ~55% prey / 45% pred (seeds 0–99)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EF4"/>
                </a:solidFill>
                <a:latin typeface="Calibri"/>
              </a:rPr>
              <a:t>•  History logged each round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D9CF0"/>
                </a:solidFill>
                <a:latin typeface="Calibri"/>
              </a:rPr>
              <a:t>Gaps &amp; Defense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611880" cy="292608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solidFill>
              <a:srgbClr val="2A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C107"/>
                </a:solidFill>
                <a:latin typeface="Calibri"/>
              </a:rPr>
              <a:t>Panic spotting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8B9AAB"/>
                </a:solidFill>
                <a:latin typeface="Calibri"/>
              </a:rPr>
              <a:t>Fcost ready · trigger not wired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E8EEF4"/>
                </a:solidFill>
                <a:latin typeface="Calibri"/>
              </a:rPr>
              <a:t>Phase 2 — despair already on kill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80160"/>
            <a:ext cx="3611880" cy="292608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solidFill>
              <a:srgbClr val="2A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463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C107"/>
                </a:solidFill>
                <a:latin typeface="Calibri"/>
              </a:rPr>
              <a:t>Wolf pack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1031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8B9AAB"/>
                </a:solidFill>
                <a:latin typeface="Calibri"/>
              </a:rPr>
              <a:t>Coded · default uses solo A*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1089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E8EEF4"/>
                </a:solidFill>
                <a:latin typeface="Calibri"/>
              </a:rPr>
              <a:t>Next: assign pack_id + call pack step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80160"/>
            <a:ext cx="3611880" cy="292608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solidFill>
              <a:srgbClr val="2A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463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C107"/>
                </a:solidFill>
                <a:latin typeface="Calibri"/>
              </a:rPr>
              <a:t>LoS / influence / CSP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1031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8B9AAB"/>
                </a:solidFill>
                <a:latin typeface="Calibri"/>
              </a:rPr>
              <a:t>Optional / deferred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1089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E8EEF4"/>
                </a:solidFill>
                <a:latin typeface="Calibri"/>
              </a:rPr>
              <a:t>Not required for core demo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solidFill>
              <a:srgbClr val="2A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937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66BB6A"/>
                </a:solidFill>
                <a:latin typeface="Calibri"/>
              </a:rPr>
              <a:t>DONE: Core loop · occupancy · BFS/A* · intents · despair · fcost · combat · wins · playback · tests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D9CF0"/>
                </a:solidFill>
                <a:latin typeface="Calibri"/>
              </a:rPr>
              <a:t>Demo Controls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188720"/>
            <a:ext cx="7589520" cy="411480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solidFill>
              <a:srgbClr val="2A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1417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D9CF0"/>
                </a:solidFill>
                <a:latin typeface="Calibri"/>
              </a:rPr>
              <a:t>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4173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E8EEF4"/>
                </a:solidFill>
                <a:latin typeface="Calibri"/>
              </a:rPr>
              <a:t>Pause / resume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9659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D9CF0"/>
                </a:solidFill>
                <a:latin typeface="Calibri"/>
              </a:rPr>
              <a:t>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9659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E8EEF4"/>
                </a:solidFill>
                <a:latin typeface="Calibri"/>
              </a:rPr>
              <a:t>Detailed ↔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514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D9CF0"/>
                </a:solidFill>
                <a:latin typeface="Calibri"/>
              </a:rPr>
              <a:t>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5146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E8EEF4"/>
                </a:solidFill>
                <a:latin typeface="Calibri"/>
              </a:rPr>
              <a:t>Next action / 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06323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D9CF0"/>
                </a:solidFill>
                <a:latin typeface="Calibri"/>
              </a:rPr>
              <a:t>+ / 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306323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E8EEF4"/>
                </a:solidFill>
                <a:latin typeface="Calibri"/>
              </a:rPr>
              <a:t>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6118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D9CF0"/>
                </a:solidFill>
                <a:latin typeface="Calibri"/>
              </a:rPr>
              <a:t>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6118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E8EEF4"/>
                </a:solidFill>
                <a:latin typeface="Calibri"/>
              </a:rPr>
              <a:t>New scenario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1605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D9CF0"/>
                </a:solidFill>
                <a:latin typeface="Calibri"/>
              </a:rPr>
              <a:t>F1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41605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E8EEF4"/>
                </a:solidFill>
                <a:latin typeface="Calibri"/>
              </a:rPr>
              <a:t>Debug overlay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8B9AAB"/>
                </a:solidFill>
                <a:latin typeface="Calibri"/>
              </a:rPr>
              <a:t>python -m src.main    ·    pytest tests/ -v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8EEF4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E8EEF4"/>
                </a:solidFill>
                <a:latin typeface="Calibri"/>
              </a:rPr>
              <a:t>•  Headless core owns rules; AI chooses moves; render only shows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E8EEF4"/>
                </a:solidFill>
                <a:latin typeface="Calibri"/>
              </a:rPr>
              <a:t>•  Search: BFS + A* · Fear: ranked fcost · Behavior: FSM + intents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E8EEF4"/>
                </a:solidFill>
                <a:latin typeface="Calibri"/>
              </a:rPr>
              <a:t>•  Vision: full map in v1 · FoV module ready for later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E8EEF4"/>
                </a:solidFill>
                <a:latin typeface="Calibri"/>
              </a:rPr>
              <a:t>•  Honest Phase-1 complete · Phase-2 wires identified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D9CF0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